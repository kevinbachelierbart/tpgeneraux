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1"/>
  </p:notesMasterIdLst>
  <p:sldIdLst>
    <p:sldId id="272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10"/>
    <p:sldId id="274" r:id="rId11"/>
    <p:sldId id="275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9144000" cy="5143500" type="screen16x9"/>
  <p:notesSz cx="6858000" cy="9144000"/>
  <p:embeddedFontLst>
    <p:embeddedFont>
      <p:font typeface="Economica" panose="020B0604020202020204" charset="0"/>
      <p:regular r:id="rId22"/>
      <p:bold r:id="rId23"/>
      <p:italic r:id="rId24"/>
      <p:boldItalic r:id="rId25"/>
    </p:embeddedFont>
    <p:embeddedFont>
      <p:font typeface="Open Sans" panose="020B0606030504020204" pitchFamily="34" charset="0"/>
      <p:regular r:id="rId26"/>
      <p:bold r:id="rId27"/>
      <p:italic r:id="rId28"/>
      <p:boldItalic r:id="rId29"/>
    </p:embeddedFont>
    <p:embeddedFont>
      <p:font typeface="OpineHeavy" pitchFamily="2" charset="0"/>
      <p:regular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jvIUtGSNpVopzYnf23dxEsE/fd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8EF4"/>
    <a:srgbClr val="0A59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E7111E6-7E48-4233-AF02-AB37C635197C}">
  <a:tblStyle styleId="{5E7111E6-7E48-4233-AF02-AB37C635197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2" d="100"/>
          <a:sy n="132" d="100"/>
        </p:scale>
        <p:origin x="132" y="22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" name="Google Shape;7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7295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48626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8132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9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9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0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20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3" name="Google Shape;23;p20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21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2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5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25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25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6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7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27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27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7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757E9E7-981C-2623-5E7B-541BE431DE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819"/>
          <a:stretch/>
        </p:blipFill>
        <p:spPr>
          <a:xfrm>
            <a:off x="1657350" y="628650"/>
            <a:ext cx="5829300" cy="3388008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32F1095-5711-1DFB-476E-041FA2F15B87}"/>
              </a:ext>
            </a:extLst>
          </p:cNvPr>
          <p:cNvSpPr txBox="1"/>
          <p:nvPr/>
        </p:nvSpPr>
        <p:spPr>
          <a:xfrm>
            <a:off x="2257723" y="4026233"/>
            <a:ext cx="462855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dirty="0">
                <a:solidFill>
                  <a:schemeClr val="bg1"/>
                </a:solidFill>
                <a:latin typeface="OpineHeavy" pitchFamily="2" charset="0"/>
              </a:rPr>
              <a:t>SINTA ZARANIE</a:t>
            </a:r>
          </a:p>
        </p:txBody>
      </p:sp>
    </p:spTree>
    <p:extLst>
      <p:ext uri="{BB962C8B-B14F-4D97-AF65-F5344CB8AC3E}">
        <p14:creationId xmlns:p14="http://schemas.microsoft.com/office/powerpoint/2010/main" val="3931371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Inspirations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9" name="Google Shape;69;p2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5470986" cy="170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200" b="1" dirty="0">
                <a:solidFill>
                  <a:schemeClr val="bg1"/>
                </a:solidFill>
              </a:rPr>
              <a:t>Saint-Nazaire</a:t>
            </a:r>
            <a:r>
              <a:rPr lang="fr-FR" sz="1200" dirty="0">
                <a:solidFill>
                  <a:schemeClr val="bg1"/>
                </a:solidFill>
              </a:rPr>
              <a:t> est ma ville de naissance. Il y a un pont long de presque 4kms qui mène à Saint-Brévin. Un jour, je me suis demandé si des gens jetaient des objets depuis le sommet. Ce serait intéressant d’aller retrouver ces objets en plongée. </a:t>
            </a:r>
          </a:p>
          <a:p>
            <a:pPr marL="114300" indent="0">
              <a:buNone/>
            </a:pPr>
            <a:r>
              <a:rPr lang="fr-FR" sz="1200" dirty="0">
                <a:solidFill>
                  <a:schemeClr val="bg1"/>
                </a:solidFill>
              </a:rPr>
              <a:t>Imaginez </a:t>
            </a:r>
            <a:r>
              <a:rPr lang="fr-FR" sz="1200" i="1" dirty="0">
                <a:solidFill>
                  <a:schemeClr val="bg1"/>
                </a:solidFill>
              </a:rPr>
              <a:t>Dave the </a:t>
            </a:r>
            <a:r>
              <a:rPr lang="fr-FR" sz="1200" i="1" dirty="0" err="1">
                <a:solidFill>
                  <a:schemeClr val="bg1"/>
                </a:solidFill>
              </a:rPr>
              <a:t>Diver</a:t>
            </a:r>
            <a:r>
              <a:rPr lang="fr-FR" sz="1200" i="1" dirty="0">
                <a:solidFill>
                  <a:schemeClr val="bg1"/>
                </a:solidFill>
              </a:rPr>
              <a:t> </a:t>
            </a:r>
            <a:r>
              <a:rPr lang="fr-FR" sz="1200" dirty="0">
                <a:solidFill>
                  <a:schemeClr val="bg1"/>
                </a:solidFill>
              </a:rPr>
              <a:t>qui part retrouver ces trésors. Mais pas pour l’histoire, pas pour la curiosité. Pour la richesse.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33428B-16B8-46D8-2769-F9C5CA9D4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00" y="3187333"/>
            <a:ext cx="2276838" cy="127860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4638ECB-A060-A0CF-34D7-4160C8AB7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3229" y="2929952"/>
            <a:ext cx="3323726" cy="197664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7D76A94-9DFA-539F-ED8F-73DE698B8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1646" y="3006052"/>
            <a:ext cx="2920335" cy="164116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E0A76A37-D6BB-B318-D20E-03FF99FA4F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3107" y="589573"/>
            <a:ext cx="3126327" cy="175802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Elevator Pitch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5" name="Google Shape;75;p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 sz="3600" b="1" dirty="0">
                <a:solidFill>
                  <a:schemeClr val="bg1"/>
                </a:solidFill>
              </a:rPr>
              <a:t>Sinta </a:t>
            </a:r>
            <a:r>
              <a:rPr lang="en-GB" sz="3600" b="1" dirty="0" err="1">
                <a:solidFill>
                  <a:schemeClr val="bg1"/>
                </a:solidFill>
              </a:rPr>
              <a:t>Zaranie</a:t>
            </a:r>
            <a:r>
              <a:rPr lang="en-GB" sz="3600" dirty="0">
                <a:solidFill>
                  <a:schemeClr val="bg1"/>
                </a:solidFill>
              </a:rPr>
              <a:t>, </a:t>
            </a:r>
            <a:r>
              <a:rPr lang="en-GB" sz="3600" dirty="0" err="1">
                <a:solidFill>
                  <a:schemeClr val="bg1"/>
                </a:solidFill>
              </a:rPr>
              <a:t>c’est</a:t>
            </a:r>
            <a:r>
              <a:rPr lang="en-GB" sz="3600" dirty="0">
                <a:solidFill>
                  <a:schemeClr val="bg1"/>
                </a:solidFill>
              </a:rPr>
              <a:t> </a:t>
            </a:r>
            <a:r>
              <a:rPr lang="en-GB" sz="3600" i="1" dirty="0">
                <a:solidFill>
                  <a:schemeClr val="bg1"/>
                </a:solidFill>
              </a:rPr>
              <a:t>Dave The Diver </a:t>
            </a:r>
            <a:r>
              <a:rPr lang="en-GB" sz="3600" dirty="0" err="1">
                <a:solidFill>
                  <a:schemeClr val="bg1"/>
                </a:solidFill>
              </a:rPr>
              <a:t>mais</a:t>
            </a:r>
            <a:r>
              <a:rPr lang="en-GB" sz="3600" dirty="0">
                <a:solidFill>
                  <a:schemeClr val="bg1"/>
                </a:solidFill>
              </a:rPr>
              <a:t> </a:t>
            </a:r>
            <a:r>
              <a:rPr lang="en-GB" sz="3600" dirty="0" err="1">
                <a:solidFill>
                  <a:schemeClr val="bg1"/>
                </a:solidFill>
              </a:rPr>
              <a:t>cupide</a:t>
            </a:r>
            <a:r>
              <a:rPr lang="en-GB" sz="3600" dirty="0">
                <a:solidFill>
                  <a:schemeClr val="bg1"/>
                </a:solidFill>
              </a:rPr>
              <a:t> et sans </a:t>
            </a:r>
            <a:r>
              <a:rPr lang="en-GB" sz="3600" dirty="0" err="1">
                <a:solidFill>
                  <a:schemeClr val="bg1"/>
                </a:solidFill>
              </a:rPr>
              <a:t>scrupule</a:t>
            </a:r>
            <a:r>
              <a:rPr lang="en-GB" sz="3600" dirty="0">
                <a:solidFill>
                  <a:schemeClr val="bg1"/>
                </a:solidFill>
              </a:rPr>
              <a:t> !</a:t>
            </a:r>
            <a:endParaRPr lang="fr-FR" sz="3600" dirty="0">
              <a:solidFill>
                <a:schemeClr val="bg1"/>
              </a:solidFill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Concept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1" name="Google Shape;81;p4"/>
          <p:cNvSpPr txBox="1">
            <a:spLocks noGrp="1"/>
          </p:cNvSpPr>
          <p:nvPr>
            <p:ph type="body" idx="1"/>
          </p:nvPr>
        </p:nvSpPr>
        <p:spPr>
          <a:xfrm>
            <a:off x="311700" y="1147224"/>
            <a:ext cx="8520600" cy="3532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SzPts val="1400"/>
              <a:buNone/>
            </a:pPr>
            <a:r>
              <a:rPr lang="fr-FR" sz="1600" dirty="0">
                <a:solidFill>
                  <a:schemeClr val="bg1"/>
                </a:solidFill>
              </a:rPr>
              <a:t>Le joueur incarne un plongée avide d’argent. Il a remarqué que beaucoup de gens jetaient des choses depuis le pont. Mais personne n’ose aller les chercher car l’eau de la Loire est bien trop noire.</a:t>
            </a:r>
            <a:endParaRPr sz="1600" dirty="0">
              <a:solidFill>
                <a:schemeClr val="bg1"/>
              </a:solidFill>
            </a:endParaRPr>
          </a:p>
          <a:p>
            <a:pPr lvl="1">
              <a:spcBef>
                <a:spcPts val="0"/>
              </a:spcBef>
              <a:buChar char="■"/>
            </a:pPr>
            <a:r>
              <a:rPr lang="fr-FR" dirty="0">
                <a:solidFill>
                  <a:schemeClr val="bg1"/>
                </a:solidFill>
              </a:rPr>
              <a:t>Le personnage </a:t>
            </a:r>
            <a:r>
              <a:rPr lang="fr-FR" u="sng" dirty="0">
                <a:solidFill>
                  <a:schemeClr val="bg1"/>
                </a:solidFill>
              </a:rPr>
              <a:t>plonge</a:t>
            </a:r>
            <a:r>
              <a:rPr lang="fr-FR" dirty="0">
                <a:solidFill>
                  <a:schemeClr val="bg1"/>
                </a:solidFill>
              </a:rPr>
              <a:t> chaque jour afin de </a:t>
            </a:r>
            <a:r>
              <a:rPr lang="fr-FR" u="sng" dirty="0">
                <a:solidFill>
                  <a:schemeClr val="bg1"/>
                </a:solidFill>
              </a:rPr>
              <a:t>ramasser</a:t>
            </a:r>
            <a:r>
              <a:rPr lang="fr-FR" dirty="0">
                <a:solidFill>
                  <a:schemeClr val="bg1"/>
                </a:solidFill>
              </a:rPr>
              <a:t> les trésors abandonnés. Mais la noirceur l’empêche d’aller dans les profondeurs. Chaque élément ramassé sous l’eau peut être </a:t>
            </a:r>
            <a:r>
              <a:rPr lang="fr-FR" u="sng" dirty="0">
                <a:solidFill>
                  <a:schemeClr val="bg1"/>
                </a:solidFill>
              </a:rPr>
              <a:t>revendu</a:t>
            </a:r>
            <a:r>
              <a:rPr lang="fr-FR" dirty="0">
                <a:solidFill>
                  <a:schemeClr val="bg1"/>
                </a:solidFill>
              </a:rPr>
              <a:t>.</a:t>
            </a:r>
            <a:endParaRPr dirty="0">
              <a:solidFill>
                <a:schemeClr val="bg1"/>
              </a:solidFill>
            </a:endParaRPr>
          </a:p>
          <a:p>
            <a:pPr lvl="1">
              <a:spcBef>
                <a:spcPts val="0"/>
              </a:spcBef>
              <a:buChar char="■"/>
            </a:pPr>
            <a:r>
              <a:rPr lang="en-GB" dirty="0">
                <a:solidFill>
                  <a:schemeClr val="bg1"/>
                </a:solidFill>
              </a:rPr>
              <a:t>Le </a:t>
            </a:r>
            <a:r>
              <a:rPr lang="en-GB" dirty="0" err="1">
                <a:solidFill>
                  <a:schemeClr val="bg1"/>
                </a:solidFill>
              </a:rPr>
              <a:t>joueur</a:t>
            </a:r>
            <a:r>
              <a:rPr lang="en-GB" dirty="0">
                <a:solidFill>
                  <a:schemeClr val="bg1"/>
                </a:solidFill>
              </a:rPr>
              <a:t> doit </a:t>
            </a:r>
            <a:r>
              <a:rPr lang="en-GB" dirty="0" err="1">
                <a:solidFill>
                  <a:schemeClr val="bg1"/>
                </a:solidFill>
              </a:rPr>
              <a:t>réussir</a:t>
            </a:r>
            <a:r>
              <a:rPr lang="en-GB" dirty="0">
                <a:solidFill>
                  <a:schemeClr val="bg1"/>
                </a:solidFill>
              </a:rPr>
              <a:t> à </a:t>
            </a:r>
            <a:r>
              <a:rPr lang="fr-FR" u="sng" dirty="0">
                <a:solidFill>
                  <a:schemeClr val="bg1"/>
                </a:solidFill>
              </a:rPr>
              <a:t>atteindre le fond </a:t>
            </a:r>
            <a:r>
              <a:rPr lang="fr-FR" dirty="0">
                <a:solidFill>
                  <a:schemeClr val="bg1"/>
                </a:solidFill>
              </a:rPr>
              <a:t>de la Loire pour y trouver les trésors rares. Il doit </a:t>
            </a:r>
            <a:r>
              <a:rPr lang="fr-FR" u="sng" dirty="0">
                <a:solidFill>
                  <a:schemeClr val="bg1"/>
                </a:solidFill>
              </a:rPr>
              <a:t>améliorer son équipement </a:t>
            </a:r>
            <a:r>
              <a:rPr lang="fr-FR" dirty="0">
                <a:solidFill>
                  <a:schemeClr val="bg1"/>
                </a:solidFill>
              </a:rPr>
              <a:t>via ses ventes pour progresser. </a:t>
            </a:r>
          </a:p>
          <a:p>
            <a:pPr lvl="1">
              <a:spcBef>
                <a:spcPts val="0"/>
              </a:spcBef>
              <a:buChar char="■"/>
            </a:pPr>
            <a:r>
              <a:rPr lang="fr-FR" dirty="0">
                <a:solidFill>
                  <a:schemeClr val="bg1"/>
                </a:solidFill>
              </a:rPr>
              <a:t>La drague passe chaque jour sous le pont, élargissant la fosse des butins. Mais son passage aspire des trésors possibles. Le joueur doit </a:t>
            </a:r>
            <a:r>
              <a:rPr lang="fr-FR" u="sng" dirty="0">
                <a:solidFill>
                  <a:schemeClr val="bg1"/>
                </a:solidFill>
              </a:rPr>
              <a:t>trouver la bonne période dans la journée </a:t>
            </a:r>
            <a:r>
              <a:rPr lang="fr-FR" dirty="0">
                <a:solidFill>
                  <a:schemeClr val="bg1"/>
                </a:solidFill>
              </a:rPr>
              <a:t>pour plonger 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Information </a:t>
            </a:r>
            <a:r>
              <a:rPr lang="en-GB" dirty="0" err="1">
                <a:solidFill>
                  <a:schemeClr val="bg1"/>
                </a:solidFill>
              </a:rPr>
              <a:t>générale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7" name="Google Shape;8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>
                <a:solidFill>
                  <a:schemeClr val="bg1"/>
                </a:solidFill>
              </a:rPr>
              <a:t>Point de </a:t>
            </a:r>
            <a:r>
              <a:rPr lang="en-GB" dirty="0" err="1">
                <a:solidFill>
                  <a:schemeClr val="bg1"/>
                </a:solidFill>
              </a:rPr>
              <a:t>vue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dirty="0" err="1">
                <a:solidFill>
                  <a:schemeClr val="bg1"/>
                </a:solidFill>
              </a:rPr>
              <a:t>Side</a:t>
            </a:r>
            <a:r>
              <a:rPr lang="fr-FR" dirty="0">
                <a:solidFill>
                  <a:schemeClr val="bg1"/>
                </a:solidFill>
              </a:rPr>
              <a:t>-scroller 2D en pixel art. </a:t>
            </a:r>
            <a:endParaRPr dirty="0">
              <a:solidFill>
                <a:schemeClr val="bg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>
                <a:solidFill>
                  <a:schemeClr val="bg1"/>
                </a:solidFill>
              </a:rPr>
              <a:t>Genre de jeu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dirty="0">
                <a:solidFill>
                  <a:schemeClr val="bg1"/>
                </a:solidFill>
              </a:rPr>
              <a:t>Casual RPG-like avec </a:t>
            </a:r>
            <a:r>
              <a:rPr lang="fr-FR" dirty="0" err="1">
                <a:solidFill>
                  <a:schemeClr val="bg1"/>
                </a:solidFill>
              </a:rPr>
              <a:t>incrementals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elements</a:t>
            </a:r>
            <a:r>
              <a:rPr lang="fr-FR" dirty="0">
                <a:solidFill>
                  <a:schemeClr val="bg1"/>
                </a:solidFill>
              </a:rPr>
              <a:t>.</a:t>
            </a:r>
            <a:endParaRPr dirty="0">
              <a:solidFill>
                <a:schemeClr val="bg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>
                <a:solidFill>
                  <a:schemeClr val="bg1"/>
                </a:solidFill>
              </a:rPr>
              <a:t>Plateforme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solidFill>
                  <a:schemeClr val="bg1"/>
                </a:solidFill>
              </a:rPr>
              <a:t>PC et consoles</a:t>
            </a:r>
            <a:endParaRPr dirty="0">
              <a:solidFill>
                <a:schemeClr val="bg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</p:txBody>
      </p:sp>
      <p:pic>
        <p:nvPicPr>
          <p:cNvPr id="2050" name="Picture 2" descr="Capture d'écran nº 0">
            <a:extLst>
              <a:ext uri="{FF2B5EF4-FFF2-40B4-BE49-F238E27FC236}">
                <a16:creationId xmlns:a16="http://schemas.microsoft.com/office/drawing/2014/main" id="{EDDC8010-A900-2BB0-3C00-2E13939A58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550" y="564275"/>
            <a:ext cx="3676898" cy="206825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Creative Values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3" name="Google Shape;93;p6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fr-FR" dirty="0">
                <a:solidFill>
                  <a:schemeClr val="bg1"/>
                </a:solidFill>
              </a:rPr>
              <a:t>Casual : mécaniques et systèmes simples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fr-FR" dirty="0">
                <a:solidFill>
                  <a:schemeClr val="bg1"/>
                </a:solidFill>
              </a:rPr>
              <a:t>Progressif : les actions avancent directement la progression du jeu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fr-FR" dirty="0">
                <a:solidFill>
                  <a:schemeClr val="bg1"/>
                </a:solidFill>
              </a:rPr>
              <a:t>Moralisateur : histoire sans accro avec retournement de situation brutal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Core Game Loop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3095127" y="1753975"/>
            <a:ext cx="1161300" cy="989100"/>
          </a:xfrm>
          <a:prstGeom prst="ellipse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 err="1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endParaRPr sz="1400" b="0" i="0" u="none" strike="noStrike" cap="none" dirty="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4218991" y="2982059"/>
            <a:ext cx="1161300" cy="989100"/>
          </a:xfrm>
          <a:prstGeom prst="ellipse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Acquérir</a:t>
            </a:r>
            <a:r>
              <a:rPr lang="en-GB" sz="1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 des items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1969975" y="2982059"/>
            <a:ext cx="1161300" cy="989100"/>
          </a:xfrm>
          <a:prstGeom prst="ellipse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Vendre</a:t>
            </a:r>
            <a:r>
              <a:rPr lang="en-GB" sz="1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 / Upgrade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/>
          <p:nvPr/>
        </p:nvSpPr>
        <p:spPr>
          <a:xfrm rot="-3086972">
            <a:off x="2714326" y="2643323"/>
            <a:ext cx="417360" cy="25267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7"/>
          <p:cNvSpPr/>
          <p:nvPr/>
        </p:nvSpPr>
        <p:spPr>
          <a:xfrm rot="2706987">
            <a:off x="4189332" y="2676301"/>
            <a:ext cx="417477" cy="25265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7"/>
          <p:cNvSpPr/>
          <p:nvPr/>
        </p:nvSpPr>
        <p:spPr>
          <a:xfrm rot="-10668795">
            <a:off x="3389382" y="3515605"/>
            <a:ext cx="416703" cy="25308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7"/>
          <p:cNvSpPr txBox="1"/>
          <p:nvPr/>
        </p:nvSpPr>
        <p:spPr>
          <a:xfrm>
            <a:off x="5550550" y="1287725"/>
            <a:ext cx="3281750" cy="3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Planifier l’heure de plongée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Acquérir des items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items sans valeur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CA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items avec valeur</a:t>
            </a: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CA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items sur l’histoire</a:t>
            </a: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Vendre / Upgrade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Vendre les items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Upgrader l’équipement de plongée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Acheter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des </a:t>
            </a: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informations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sur le passage de la </a:t>
            </a: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drague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Main features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b="1" dirty="0">
                <a:solidFill>
                  <a:schemeClr val="bg1"/>
                </a:solidFill>
              </a:rPr>
              <a:t>Système de planification (Interface)</a:t>
            </a:r>
          </a:p>
          <a:p>
            <a:pPr lvl="1" indent="-342900">
              <a:spcBef>
                <a:spcPts val="0"/>
              </a:spcBef>
              <a:buSzPts val="1800"/>
              <a:buChar char="●"/>
            </a:pPr>
            <a:r>
              <a:rPr lang="fr-FR" dirty="0">
                <a:solidFill>
                  <a:schemeClr val="bg1"/>
                </a:solidFill>
              </a:rPr>
              <a:t>Chaque matin/début de journée, le joueur doit planifier son heure de plongée en fonction de la drague qui passe dans le chenal. Selon la plage horaire choisie : </a:t>
            </a:r>
          </a:p>
          <a:p>
            <a:pPr lvl="2" indent="-342900"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Drague vient de passer : Fosse plus large (navigation plus facile) mais moins de trésors</a:t>
            </a:r>
          </a:p>
          <a:p>
            <a:pPr lvl="2" indent="-342900"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Drague est passé il y a 12h et moins : Fosse plus étroite et fréquence des trésors normale</a:t>
            </a:r>
          </a:p>
          <a:p>
            <a:pPr lvl="2" indent="-342900"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Drague est passé il y a plus de 12h : Fosse dangereuse et beaucoup de </a:t>
            </a:r>
            <a:r>
              <a:rPr lang="fr-FR" dirty="0" err="1">
                <a:solidFill>
                  <a:schemeClr val="bg1"/>
                </a:solidFill>
              </a:rPr>
              <a:t>loots</a:t>
            </a:r>
            <a:r>
              <a:rPr lang="fr-FR" dirty="0">
                <a:solidFill>
                  <a:schemeClr val="bg1"/>
                </a:solidFill>
              </a:rPr>
              <a:t>. </a:t>
            </a:r>
          </a:p>
          <a:p>
            <a:pPr lvl="1" indent="-342900">
              <a:spcBef>
                <a:spcPts val="0"/>
              </a:spcBef>
              <a:buSzPts val="1800"/>
              <a:buChar char="●"/>
            </a:pP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Analyser</a:t>
            </a:r>
            <a:r>
              <a:rPr lang="fr-FR" dirty="0">
                <a:solidFill>
                  <a:schemeClr val="bg1"/>
                </a:solidFill>
              </a:rPr>
              <a:t> les données de la veille, voire l’avant-veille selon les upgrades achetées.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 err="1">
                <a:solidFill>
                  <a:schemeClr val="bg1"/>
                </a:solidFill>
              </a:rPr>
              <a:t>Sélectionner</a:t>
            </a:r>
            <a:r>
              <a:rPr lang="en-GB" dirty="0">
                <a:solidFill>
                  <a:schemeClr val="bg1"/>
                </a:solidFill>
              </a:rPr>
              <a:t> la plage </a:t>
            </a:r>
            <a:r>
              <a:rPr lang="en-GB" dirty="0" err="1">
                <a:solidFill>
                  <a:schemeClr val="bg1"/>
                </a:solidFill>
              </a:rPr>
              <a:t>horaire</a:t>
            </a:r>
            <a:r>
              <a:rPr lang="en-GB" dirty="0">
                <a:solidFill>
                  <a:schemeClr val="bg1"/>
                </a:solidFill>
              </a:rPr>
              <a:t> de </a:t>
            </a:r>
            <a:r>
              <a:rPr lang="en-GB" dirty="0" err="1">
                <a:solidFill>
                  <a:schemeClr val="bg1"/>
                </a:solidFill>
              </a:rPr>
              <a:t>plongée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Main features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b="1" dirty="0">
                <a:solidFill>
                  <a:schemeClr val="bg1"/>
                </a:solidFill>
              </a:rPr>
              <a:t>Système de navigation de plongée</a:t>
            </a:r>
            <a:endParaRPr b="1"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Se déplacer : </a:t>
            </a:r>
            <a:r>
              <a:rPr lang="fr-FR" dirty="0">
                <a:solidFill>
                  <a:schemeClr val="bg1"/>
                </a:solidFill>
              </a:rPr>
              <a:t>dans les 2 axes. Déplacement illimité. Seule la jauge d’O² influence la durée de déplacement</a:t>
            </a: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Dash</a:t>
            </a:r>
            <a:r>
              <a:rPr lang="fr-FR" dirty="0">
                <a:solidFill>
                  <a:schemeClr val="bg1"/>
                </a:solidFill>
              </a:rPr>
              <a:t> : Permet de </a:t>
            </a:r>
            <a:r>
              <a:rPr lang="fr-FR" dirty="0" err="1">
                <a:solidFill>
                  <a:schemeClr val="bg1"/>
                </a:solidFill>
              </a:rPr>
              <a:t>dasher</a:t>
            </a:r>
            <a:r>
              <a:rPr lang="fr-FR" dirty="0">
                <a:solidFill>
                  <a:schemeClr val="bg1"/>
                </a:solidFill>
              </a:rPr>
              <a:t>. </a:t>
            </a:r>
            <a:r>
              <a:rPr lang="fr-FR" dirty="0" err="1">
                <a:solidFill>
                  <a:schemeClr val="bg1"/>
                </a:solidFill>
              </a:rPr>
              <a:t>Cooldown</a:t>
            </a:r>
            <a:r>
              <a:rPr lang="fr-FR" dirty="0">
                <a:solidFill>
                  <a:schemeClr val="bg1"/>
                </a:solidFill>
              </a:rPr>
              <a:t> de [x] secondes et perte d’air de [x].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>
                <a:solidFill>
                  <a:schemeClr val="bg1"/>
                </a:solidFill>
              </a:rPr>
              <a:t>Pointer la lumière </a:t>
            </a:r>
            <a:r>
              <a:rPr lang="en-GB" dirty="0">
                <a:solidFill>
                  <a:schemeClr val="bg1"/>
                </a:solidFill>
              </a:rPr>
              <a:t>: </a:t>
            </a:r>
            <a:r>
              <a:rPr lang="en-GB" dirty="0" err="1">
                <a:solidFill>
                  <a:schemeClr val="bg1"/>
                </a:solidFill>
              </a:rPr>
              <a:t>permet</a:t>
            </a:r>
            <a:r>
              <a:rPr lang="en-GB" dirty="0">
                <a:solidFill>
                  <a:schemeClr val="bg1"/>
                </a:solidFill>
              </a:rPr>
              <a:t> de se </a:t>
            </a:r>
            <a:r>
              <a:rPr lang="en-GB" dirty="0" err="1">
                <a:solidFill>
                  <a:schemeClr val="bg1"/>
                </a:solidFill>
              </a:rPr>
              <a:t>focaliser</a:t>
            </a:r>
            <a:r>
              <a:rPr lang="en-GB" dirty="0">
                <a:solidFill>
                  <a:schemeClr val="bg1"/>
                </a:solidFill>
              </a:rPr>
              <a:t> sur </a:t>
            </a:r>
            <a:r>
              <a:rPr lang="en-GB" dirty="0" err="1">
                <a:solidFill>
                  <a:schemeClr val="bg1"/>
                </a:solidFill>
              </a:rPr>
              <a:t>une</a:t>
            </a:r>
            <a:r>
              <a:rPr lang="en-GB" dirty="0">
                <a:solidFill>
                  <a:schemeClr val="bg1"/>
                </a:solidFill>
              </a:rPr>
              <a:t> zone precise </a:t>
            </a:r>
            <a:r>
              <a:rPr lang="en-GB" dirty="0" err="1">
                <a:solidFill>
                  <a:schemeClr val="bg1"/>
                </a:solidFill>
              </a:rPr>
              <a:t>durant</a:t>
            </a:r>
            <a:r>
              <a:rPr lang="en-GB" dirty="0">
                <a:solidFill>
                  <a:schemeClr val="bg1"/>
                </a:solidFill>
              </a:rPr>
              <a:t> la </a:t>
            </a:r>
            <a:r>
              <a:rPr lang="en-GB" dirty="0" err="1">
                <a:solidFill>
                  <a:schemeClr val="bg1"/>
                </a:solidFill>
              </a:rPr>
              <a:t>nage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6448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Main features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b="1" dirty="0">
                <a:solidFill>
                  <a:schemeClr val="bg1"/>
                </a:solidFill>
              </a:rPr>
              <a:t>Système de ramassage du </a:t>
            </a:r>
            <a:r>
              <a:rPr lang="fr-FR" b="1" dirty="0" err="1">
                <a:solidFill>
                  <a:schemeClr val="bg1"/>
                </a:solidFill>
              </a:rPr>
              <a:t>loot</a:t>
            </a:r>
            <a:endParaRPr b="1"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Simple </a:t>
            </a:r>
            <a:r>
              <a:rPr lang="fr-FR" b="1" dirty="0" err="1">
                <a:solidFill>
                  <a:schemeClr val="bg1"/>
                </a:solidFill>
              </a:rPr>
              <a:t>interact</a:t>
            </a:r>
            <a:r>
              <a:rPr lang="fr-FR" b="1" dirty="0">
                <a:solidFill>
                  <a:schemeClr val="bg1"/>
                </a:solidFill>
              </a:rPr>
              <a:t> </a:t>
            </a:r>
            <a:r>
              <a:rPr lang="fr-FR" dirty="0">
                <a:solidFill>
                  <a:schemeClr val="bg1"/>
                </a:solidFill>
              </a:rPr>
              <a:t>: un input qui permet de ramasser du </a:t>
            </a:r>
            <a:r>
              <a:rPr lang="fr-FR" dirty="0" err="1">
                <a:solidFill>
                  <a:schemeClr val="bg1"/>
                </a:solidFill>
              </a:rPr>
              <a:t>loot</a:t>
            </a:r>
            <a:r>
              <a:rPr lang="fr-FR" dirty="0">
                <a:solidFill>
                  <a:schemeClr val="bg1"/>
                </a:solidFill>
              </a:rPr>
              <a:t> (possible pour les petits items)</a:t>
            </a: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 err="1">
                <a:solidFill>
                  <a:schemeClr val="bg1"/>
                </a:solidFill>
              </a:rPr>
              <a:t>Interact</a:t>
            </a:r>
            <a:r>
              <a:rPr lang="fr-FR" b="1" dirty="0">
                <a:solidFill>
                  <a:schemeClr val="bg1"/>
                </a:solidFill>
              </a:rPr>
              <a:t> spam </a:t>
            </a:r>
            <a:r>
              <a:rPr lang="fr-FR" dirty="0">
                <a:solidFill>
                  <a:schemeClr val="bg1"/>
                </a:solidFill>
              </a:rPr>
              <a:t>: demande d’appuyer x fois sur le bouton dans le délai requis pour sortir un gros item de la vase</a:t>
            </a: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Hold</a:t>
            </a:r>
            <a:r>
              <a:rPr lang="fr-FR" dirty="0">
                <a:solidFill>
                  <a:schemeClr val="bg1"/>
                </a:solidFill>
              </a:rPr>
              <a:t> : permet de gratter la vase pour voir si un objet est dedans. 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1301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Main features</a:t>
            </a:r>
            <a:endParaRPr/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/>
              <a:t>Systèmes</a:t>
            </a:r>
            <a:r>
              <a:rPr lang="en-GB" dirty="0"/>
              <a:t> </a:t>
            </a:r>
            <a:r>
              <a:rPr lang="en-GB" dirty="0" err="1"/>
              <a:t>nécessaires</a:t>
            </a:r>
            <a:r>
              <a:rPr lang="en-GB" dirty="0"/>
              <a:t> à </a:t>
            </a:r>
            <a:r>
              <a:rPr lang="en-GB" dirty="0" err="1"/>
              <a:t>ce</a:t>
            </a:r>
            <a:r>
              <a:rPr lang="en-GB" dirty="0"/>
              <a:t> que je </a:t>
            </a:r>
            <a:r>
              <a:rPr lang="en-GB" dirty="0" err="1"/>
              <a:t>puisse</a:t>
            </a:r>
            <a:r>
              <a:rPr lang="en-GB" dirty="0"/>
              <a:t> </a:t>
            </a:r>
            <a:r>
              <a:rPr lang="en-GB" dirty="0" err="1"/>
              <a:t>remplir</a:t>
            </a:r>
            <a:r>
              <a:rPr lang="en-GB" dirty="0"/>
              <a:t> les action de </a:t>
            </a:r>
            <a:r>
              <a:rPr lang="en-GB" dirty="0" err="1"/>
              <a:t>mes</a:t>
            </a:r>
            <a:r>
              <a:rPr lang="en-GB" dirty="0"/>
              <a:t> game loops</a:t>
            </a:r>
            <a:endParaRPr dirty="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Minimum de 4 </a:t>
            </a:r>
            <a:r>
              <a:rPr lang="en-GB" dirty="0" err="1"/>
              <a:t>systèmes</a:t>
            </a:r>
            <a:r>
              <a:rPr lang="en-GB" dirty="0"/>
              <a:t> (Ex: Navigation, Combat, etc)</a:t>
            </a:r>
            <a:endParaRPr dirty="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Avec au </a:t>
            </a:r>
            <a:r>
              <a:rPr lang="en-GB" dirty="0" err="1"/>
              <a:t>moins</a:t>
            </a:r>
            <a:r>
              <a:rPr lang="en-GB" dirty="0"/>
              <a:t> 2 </a:t>
            </a:r>
            <a:r>
              <a:rPr lang="en-GB" dirty="0" err="1"/>
              <a:t>mécaniques</a:t>
            </a:r>
            <a:r>
              <a:rPr lang="en-GB" dirty="0"/>
              <a:t> par </a:t>
            </a:r>
            <a:r>
              <a:rPr lang="en-GB" dirty="0" err="1"/>
              <a:t>système</a:t>
            </a:r>
            <a:r>
              <a:rPr lang="en-GB" dirty="0"/>
              <a:t> (Ex: </a:t>
            </a:r>
            <a:r>
              <a:rPr lang="en-GB" dirty="0" err="1"/>
              <a:t>Courir</a:t>
            </a:r>
            <a:r>
              <a:rPr lang="en-GB" dirty="0"/>
              <a:t>, </a:t>
            </a:r>
            <a:r>
              <a:rPr lang="en-GB" dirty="0" err="1"/>
              <a:t>frapper</a:t>
            </a:r>
            <a:r>
              <a:rPr lang="en-GB" dirty="0"/>
              <a:t>, etc)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6827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9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3Cs Character</a:t>
            </a:r>
            <a:endParaRPr/>
          </a:p>
        </p:txBody>
      </p:sp>
      <p:sp>
        <p:nvSpPr>
          <p:cNvPr id="117" name="Google Shape;117;p9"/>
          <p:cNvSpPr/>
          <p:nvPr/>
        </p:nvSpPr>
        <p:spPr>
          <a:xfrm>
            <a:off x="384825" y="1161925"/>
            <a:ext cx="1916700" cy="369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Image de mon perso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Ou inspiration de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18" name="Google Shape;118;p9"/>
          <p:cNvSpPr txBox="1"/>
          <p:nvPr/>
        </p:nvSpPr>
        <p:spPr>
          <a:xfrm>
            <a:off x="2501450" y="1154500"/>
            <a:ext cx="6534900" cy="25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Mouvements ex: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Courir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Marcher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Strafer 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etc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Abiletés ex: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Tirer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Viser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Sauter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etc.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3Cs Character (bis)</a:t>
            </a:r>
            <a:endParaRPr/>
          </a:p>
        </p:txBody>
      </p:sp>
      <p:sp>
        <p:nvSpPr>
          <p:cNvPr id="124" name="Google Shape;124;p10"/>
          <p:cNvSpPr/>
          <p:nvPr/>
        </p:nvSpPr>
        <p:spPr>
          <a:xfrm>
            <a:off x="384825" y="1161925"/>
            <a:ext cx="1916700" cy="369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Image de mon perso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Ou inspiration de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25" name="Google Shape;125;p10"/>
          <p:cNvSpPr txBox="1"/>
          <p:nvPr/>
        </p:nvSpPr>
        <p:spPr>
          <a:xfrm>
            <a:off x="2501450" y="1154500"/>
            <a:ext cx="6534900" cy="32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Personnalité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Petite description, pas un roman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Taille (métrique)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2 units de haut 1 unit de large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Portée épée 3 unités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Portée Bazooka 35 unités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etc.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3Cs Contrôles</a:t>
            </a:r>
            <a:endParaRPr/>
          </a:p>
        </p:txBody>
      </p:sp>
      <p:graphicFrame>
        <p:nvGraphicFramePr>
          <p:cNvPr id="131" name="Google Shape;131;p11"/>
          <p:cNvGraphicFramePr/>
          <p:nvPr/>
        </p:nvGraphicFramePr>
        <p:xfrm>
          <a:off x="952500" y="1619250"/>
          <a:ext cx="7239000" cy="2834490"/>
        </p:xfrm>
        <a:graphic>
          <a:graphicData uri="http://schemas.openxmlformats.org/drawingml/2006/table">
            <a:tbl>
              <a:tblPr>
                <a:noFill/>
                <a:tableStyleId>{5E7111E6-7E48-4233-AF02-AB37C635197C}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Contrôles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In-Game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Menus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W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Avancer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Changer la sélection vers le haut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S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Reculer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Changer la sélection vers le bas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A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Strafer à gauche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Changer la sélection vers la gauche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D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Strafer à droite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Changer la sélection vers la droite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2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3Cs Caméra</a:t>
            </a:r>
            <a:endParaRPr/>
          </a:p>
        </p:txBody>
      </p:sp>
      <p:sp>
        <p:nvSpPr>
          <p:cNvPr id="137" name="Google Shape;137;p12"/>
          <p:cNvSpPr txBox="1"/>
          <p:nvPr/>
        </p:nvSpPr>
        <p:spPr>
          <a:xfrm>
            <a:off x="347825" y="1184125"/>
            <a:ext cx="84294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In-game camera</a:t>
            </a: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Ex: Caméra 3e personne, dynamique, éloignée en survol</a:t>
            </a: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IMAGE QUI REPRÉSENTE CETTE CAMÉRA</a:t>
            </a: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Comportement Ex: Caméra entre en collision avec les murs et plafonds et slide pour se positionner derrière le perso quitte à rendre le person transparent.</a:t>
            </a: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GPIs</a:t>
            </a:r>
            <a:endParaRPr/>
          </a:p>
        </p:txBody>
      </p:sp>
      <p:sp>
        <p:nvSpPr>
          <p:cNvPr id="143" name="Google Shape;143;p1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EX: GPI 1 = Ennemi corps-à-corps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Levier 1: HP de l’ennemi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Levier 2: Complexité des patterns de l’ennemi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Description: L’ennemi essaie de se rendre au corps à corps le plus rapidement possible. Une fois à la bonne distance, il donne [X] coups d’épée et recule pour [Y] secondes avant de recommencer.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r>
              <a:rPr lang="en-GB"/>
              <a:t>GPIs minimum 5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Annexe 1.</a:t>
            </a:r>
            <a:endParaRPr/>
          </a:p>
        </p:txBody>
      </p:sp>
      <p:sp>
        <p:nvSpPr>
          <p:cNvPr id="149" name="Google Shape;149;p1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GB"/>
              <a:t>Boucles de Jeux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Annexe 2.</a:t>
            </a:r>
            <a:endParaRPr/>
          </a:p>
        </p:txBody>
      </p:sp>
      <p:sp>
        <p:nvSpPr>
          <p:cNvPr id="155" name="Google Shape;155;p1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GB"/>
              <a:t>3Cs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Annexe 3.</a:t>
            </a:r>
            <a:endParaRPr/>
          </a:p>
        </p:txBody>
      </p:sp>
      <p:sp>
        <p:nvSpPr>
          <p:cNvPr id="161" name="Google Shape;161;p16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GB"/>
              <a:t>Mécanique Principale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843</Words>
  <Application>Microsoft Office PowerPoint</Application>
  <PresentationFormat>Affichage à l'écran (16:9)</PresentationFormat>
  <Paragraphs>127</Paragraphs>
  <Slides>19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4" baseType="lpstr">
      <vt:lpstr>OpineHeavy</vt:lpstr>
      <vt:lpstr>Economica</vt:lpstr>
      <vt:lpstr>Open Sans</vt:lpstr>
      <vt:lpstr>Arial</vt:lpstr>
      <vt:lpstr>Luxe</vt:lpstr>
      <vt:lpstr>Présentation PowerPoint</vt:lpstr>
      <vt:lpstr>Inspirations</vt:lpstr>
      <vt:lpstr>Elevator Pitch</vt:lpstr>
      <vt:lpstr>Concept</vt:lpstr>
      <vt:lpstr>Information générale</vt:lpstr>
      <vt:lpstr>Creative Values</vt:lpstr>
      <vt:lpstr>Core Game Loop</vt:lpstr>
      <vt:lpstr>Main features</vt:lpstr>
      <vt:lpstr>Main features</vt:lpstr>
      <vt:lpstr>Main features</vt:lpstr>
      <vt:lpstr>Main features</vt:lpstr>
      <vt:lpstr>3Cs Character</vt:lpstr>
      <vt:lpstr>3Cs Character (bis)</vt:lpstr>
      <vt:lpstr>3Cs Contrôles</vt:lpstr>
      <vt:lpstr>3Cs Caméra</vt:lpstr>
      <vt:lpstr>GPIs</vt:lpstr>
      <vt:lpstr>Annexe 1.</vt:lpstr>
      <vt:lpstr>Annexe 2.</vt:lpstr>
      <vt:lpstr>Annexe 3.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Kevin Tramp</cp:lastModifiedBy>
  <cp:revision>38</cp:revision>
  <dcterms:modified xsi:type="dcterms:W3CDTF">2026-10-28T11:12:25Z</dcterms:modified>
</cp:coreProperties>
</file>