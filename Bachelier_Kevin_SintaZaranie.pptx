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1"/>
  </p:notesMasterIdLst>
  <p:sldIdLst>
    <p:sldId id="272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3" r:id="rId10"/>
    <p:sldId id="274" r:id="rId11"/>
    <p:sldId id="275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</p:sldIdLst>
  <p:sldSz cx="9144000" cy="5143500" type="screen16x9"/>
  <p:notesSz cx="6858000" cy="9144000"/>
  <p:embeddedFontLst>
    <p:embeddedFont>
      <p:font typeface="Economica" panose="020B0604020202020204" charset="0"/>
      <p:regular r:id="rId22"/>
      <p:bold r:id="rId23"/>
      <p:italic r:id="rId24"/>
      <p:boldItalic r:id="rId25"/>
    </p:embeddedFont>
    <p:embeddedFont>
      <p:font typeface="Open Sans" panose="020B0606030504020204" pitchFamily="34" charset="0"/>
      <p:regular r:id="rId26"/>
      <p:bold r:id="rId27"/>
      <p:italic r:id="rId28"/>
      <p:boldItalic r:id="rId29"/>
    </p:embeddedFont>
    <p:embeddedFont>
      <p:font typeface="OpineHeavy" pitchFamily="2" charset="0"/>
      <p:regular r:id="rId3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1" roundtripDataSignature="AMtx7mjvIUtGSNpVopzYnf23dxEsE/fdM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A8EF4"/>
    <a:srgbClr val="0A59B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E7111E6-7E48-4233-AF02-AB37C635197C}">
  <a:tblStyle styleId="{5E7111E6-7E48-4233-AF02-AB37C635197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2" d="100"/>
          <a:sy n="132" d="100"/>
        </p:scale>
        <p:origin x="132" y="22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font" Target="fonts/font7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customschemas.google.com/relationships/presentationmetadata" Target="meta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font" Target="fonts/font6.fntdata"/><Relationship Id="rId30" Type="http://schemas.openxmlformats.org/officeDocument/2006/relationships/font" Target="fonts/font9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6" name="Google Shape;6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2" name="Google Shape;72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8" name="Google Shape;78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4" name="Google Shape;84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0" name="Google Shape;90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6" name="Google Shape;96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" name="Google Shape;108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" name="Google Shape;108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072952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" name="Google Shape;108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7486262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" name="Google Shape;108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3813268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4" name="Google Shape;114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1" name="Google Shape;121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8" name="Google Shape;128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4" name="Google Shape;134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0" name="Google Shape;140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6" name="Google Shape;146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2" name="Google Shape;152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8" name="Google Shape;158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9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19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9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0"/>
          <p:cNvSpPr/>
          <p:nvPr/>
        </p:nvSpPr>
        <p:spPr>
          <a:xfrm flipH="1">
            <a:off x="7595938" y="4602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22" name="Google Shape;22;p20"/>
          <p:cNvSpPr/>
          <p:nvPr/>
        </p:nvSpPr>
        <p:spPr>
          <a:xfrm rot="10800000" flipH="1">
            <a:off x="466425" y="35583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23" name="Google Shape;23;p20"/>
          <p:cNvSpPr txBox="1">
            <a:spLocks noGrp="1"/>
          </p:cNvSpPr>
          <p:nvPr>
            <p:ph type="title"/>
          </p:nvPr>
        </p:nvSpPr>
        <p:spPr>
          <a:xfrm>
            <a:off x="773700" y="1806450"/>
            <a:ext cx="7596600" cy="153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1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1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39999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21"/>
          <p:cNvSpPr txBox="1">
            <a:spLocks noGrp="1"/>
          </p:cNvSpPr>
          <p:nvPr>
            <p:ph type="body" idx="2"/>
          </p:nvPr>
        </p:nvSpPr>
        <p:spPr>
          <a:xfrm>
            <a:off x="4832400" y="1225225"/>
            <a:ext cx="39999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9" name="Google Shape;29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2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3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5" name="Google Shape;35;p23"/>
          <p:cNvSpPr txBox="1">
            <a:spLocks noGrp="1"/>
          </p:cNvSpPr>
          <p:nvPr>
            <p:ph type="body" idx="1"/>
          </p:nvPr>
        </p:nvSpPr>
        <p:spPr>
          <a:xfrm>
            <a:off x="311700" y="1399400"/>
            <a:ext cx="2808000" cy="27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6" name="Google Shape;36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2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24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5878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0" name="Google Shape;40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25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3" name="Google Shape;43;p25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25"/>
          <p:cNvSpPr txBox="1">
            <a:spLocks noGrp="1"/>
          </p:cNvSpPr>
          <p:nvPr>
            <p:ph type="title"/>
          </p:nvPr>
        </p:nvSpPr>
        <p:spPr>
          <a:xfrm>
            <a:off x="265500" y="929275"/>
            <a:ext cx="4045200" cy="178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45" name="Google Shape;45;p25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57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46" name="Google Shape;46;p25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2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6"/>
          <p:cNvSpPr txBox="1">
            <a:spLocks noGrp="1"/>
          </p:cNvSpPr>
          <p:nvPr>
            <p:ph type="body" idx="1"/>
          </p:nvPr>
        </p:nvSpPr>
        <p:spPr>
          <a:xfrm>
            <a:off x="319500" y="421892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</a:lstStyle>
          <a:p>
            <a:endParaRPr/>
          </a:p>
        </p:txBody>
      </p:sp>
      <p:sp>
        <p:nvSpPr>
          <p:cNvPr id="50" name="Google Shape;50;p2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27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27"/>
          <p:cNvSpPr txBox="1">
            <a:spLocks noGrp="1"/>
          </p:cNvSpPr>
          <p:nvPr>
            <p:ph type="title" hasCustomPrompt="1"/>
          </p:nvPr>
        </p:nvSpPr>
        <p:spPr>
          <a:xfrm>
            <a:off x="311700" y="957125"/>
            <a:ext cx="8520600" cy="21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4" name="Google Shape;54;p27"/>
          <p:cNvSpPr txBox="1">
            <a:spLocks noGrp="1"/>
          </p:cNvSpPr>
          <p:nvPr>
            <p:ph type="body" idx="1"/>
          </p:nvPr>
        </p:nvSpPr>
        <p:spPr>
          <a:xfrm>
            <a:off x="311700" y="3162000"/>
            <a:ext cx="8520600" cy="10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lux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7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7" name="Google Shape;7;p17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8" name="Google Shape;8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757E9E7-981C-2623-5E7B-541BE431DE8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2819"/>
          <a:stretch/>
        </p:blipFill>
        <p:spPr>
          <a:xfrm>
            <a:off x="1657350" y="628650"/>
            <a:ext cx="5829300" cy="3388008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232F1095-5711-1DFB-476E-041FA2F15B87}"/>
              </a:ext>
            </a:extLst>
          </p:cNvPr>
          <p:cNvSpPr txBox="1"/>
          <p:nvPr/>
        </p:nvSpPr>
        <p:spPr>
          <a:xfrm>
            <a:off x="2257723" y="4026233"/>
            <a:ext cx="462855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400" dirty="0">
                <a:solidFill>
                  <a:schemeClr val="bg1"/>
                </a:solidFill>
                <a:latin typeface="OpineHeavy" pitchFamily="2" charset="0"/>
              </a:rPr>
              <a:t>SINTA ZARANIE</a:t>
            </a:r>
          </a:p>
        </p:txBody>
      </p:sp>
    </p:spTree>
    <p:extLst>
      <p:ext uri="{BB962C8B-B14F-4D97-AF65-F5344CB8AC3E}">
        <p14:creationId xmlns:p14="http://schemas.microsoft.com/office/powerpoint/2010/main" val="39313715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2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 dirty="0">
                <a:solidFill>
                  <a:schemeClr val="bg1"/>
                </a:solidFill>
              </a:rPr>
              <a:t>Inspirations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69" name="Google Shape;69;p2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5470986" cy="17047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indent="0">
              <a:buNone/>
            </a:pPr>
            <a:r>
              <a:rPr lang="fr-FR" sz="1200" b="1" dirty="0">
                <a:solidFill>
                  <a:schemeClr val="bg1"/>
                </a:solidFill>
              </a:rPr>
              <a:t>Saint-Nazaire</a:t>
            </a:r>
            <a:r>
              <a:rPr lang="fr-FR" sz="1200" dirty="0">
                <a:solidFill>
                  <a:schemeClr val="bg1"/>
                </a:solidFill>
              </a:rPr>
              <a:t> est ma ville de naissance. Il y a un pont long de presque 4kms qui mène à Saint-Brévin. Un jour, je me suis demandé si des gens jetaient des objets depuis le sommet. Ce serait intéressant d’aller retrouver ces objets en plongée. </a:t>
            </a:r>
          </a:p>
          <a:p>
            <a:pPr marL="114300" indent="0">
              <a:buNone/>
            </a:pPr>
            <a:r>
              <a:rPr lang="fr-FR" sz="1200" dirty="0">
                <a:solidFill>
                  <a:schemeClr val="bg1"/>
                </a:solidFill>
              </a:rPr>
              <a:t>Imaginez </a:t>
            </a:r>
            <a:r>
              <a:rPr lang="fr-FR" sz="1200" i="1" dirty="0">
                <a:solidFill>
                  <a:schemeClr val="bg1"/>
                </a:solidFill>
              </a:rPr>
              <a:t>Dave the </a:t>
            </a:r>
            <a:r>
              <a:rPr lang="fr-FR" sz="1200" i="1" dirty="0" err="1">
                <a:solidFill>
                  <a:schemeClr val="bg1"/>
                </a:solidFill>
              </a:rPr>
              <a:t>Diver</a:t>
            </a:r>
            <a:r>
              <a:rPr lang="fr-FR" sz="1200" i="1" dirty="0">
                <a:solidFill>
                  <a:schemeClr val="bg1"/>
                </a:solidFill>
              </a:rPr>
              <a:t> </a:t>
            </a:r>
            <a:r>
              <a:rPr lang="fr-FR" sz="1200" dirty="0">
                <a:solidFill>
                  <a:schemeClr val="bg1"/>
                </a:solidFill>
              </a:rPr>
              <a:t>qui part retrouver ces trésors. Mais pas pour l’histoire, pas pour la curiosité. Pour la richesse. 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833428B-16B8-46D8-2769-F9C5CA9D42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700" y="3187333"/>
            <a:ext cx="2276838" cy="1278603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94638ECB-A060-A0CF-34D7-4160C8AB70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3229" y="2929952"/>
            <a:ext cx="3323726" cy="1976645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17D76A94-9DFA-539F-ED8F-73DE698B8C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1646" y="3006052"/>
            <a:ext cx="2920335" cy="1641167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E0A76A37-D6BB-B318-D20E-03FF99FA4FF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33107" y="589573"/>
            <a:ext cx="3126327" cy="175802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3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 dirty="0">
                <a:solidFill>
                  <a:schemeClr val="bg1"/>
                </a:solidFill>
              </a:rPr>
              <a:t>Elevator Pitch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75" name="Google Shape;75;p3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9690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GB" dirty="0">
              <a:solidFill>
                <a:schemeClr val="bg1"/>
              </a:solidFill>
            </a:endParaRPr>
          </a:p>
          <a:p>
            <a:pPr marL="59690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GB" dirty="0">
              <a:solidFill>
                <a:schemeClr val="bg1"/>
              </a:solidFill>
            </a:endParaRPr>
          </a:p>
          <a:p>
            <a:pPr marL="59690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GB" dirty="0">
              <a:solidFill>
                <a:schemeClr val="bg1"/>
              </a:solidFill>
            </a:endParaRPr>
          </a:p>
          <a:p>
            <a:pPr marL="59690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GB" dirty="0">
              <a:solidFill>
                <a:schemeClr val="bg1"/>
              </a:solidFill>
            </a:endParaRPr>
          </a:p>
          <a:p>
            <a:pPr marL="596900" lvl="1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GB" sz="3600" b="1" dirty="0">
                <a:solidFill>
                  <a:schemeClr val="bg1"/>
                </a:solidFill>
              </a:rPr>
              <a:t>Sinta </a:t>
            </a:r>
            <a:r>
              <a:rPr lang="en-GB" sz="3600" b="1" dirty="0" err="1">
                <a:solidFill>
                  <a:schemeClr val="bg1"/>
                </a:solidFill>
              </a:rPr>
              <a:t>Zaranie</a:t>
            </a:r>
            <a:r>
              <a:rPr lang="en-GB" sz="3600" dirty="0">
                <a:solidFill>
                  <a:schemeClr val="bg1"/>
                </a:solidFill>
              </a:rPr>
              <a:t>, </a:t>
            </a:r>
            <a:r>
              <a:rPr lang="en-GB" sz="3600" dirty="0" err="1">
                <a:solidFill>
                  <a:schemeClr val="bg1"/>
                </a:solidFill>
              </a:rPr>
              <a:t>c’est</a:t>
            </a:r>
            <a:r>
              <a:rPr lang="en-GB" sz="3600" dirty="0">
                <a:solidFill>
                  <a:schemeClr val="bg1"/>
                </a:solidFill>
              </a:rPr>
              <a:t> </a:t>
            </a:r>
            <a:r>
              <a:rPr lang="en-GB" sz="3600" i="1" dirty="0">
                <a:solidFill>
                  <a:schemeClr val="bg1"/>
                </a:solidFill>
              </a:rPr>
              <a:t>Dave The Diver </a:t>
            </a:r>
            <a:r>
              <a:rPr lang="en-GB" sz="3600" dirty="0" err="1">
                <a:solidFill>
                  <a:schemeClr val="bg1"/>
                </a:solidFill>
              </a:rPr>
              <a:t>mais</a:t>
            </a:r>
            <a:r>
              <a:rPr lang="en-GB" sz="3600" dirty="0">
                <a:solidFill>
                  <a:schemeClr val="bg1"/>
                </a:solidFill>
              </a:rPr>
              <a:t> </a:t>
            </a:r>
            <a:r>
              <a:rPr lang="en-GB" sz="3600" dirty="0" err="1">
                <a:solidFill>
                  <a:schemeClr val="bg1"/>
                </a:solidFill>
              </a:rPr>
              <a:t>cupide</a:t>
            </a:r>
            <a:r>
              <a:rPr lang="en-GB" sz="3600" dirty="0">
                <a:solidFill>
                  <a:schemeClr val="bg1"/>
                </a:solidFill>
              </a:rPr>
              <a:t> et sans </a:t>
            </a:r>
            <a:r>
              <a:rPr lang="en-GB" sz="3600" dirty="0" err="1">
                <a:solidFill>
                  <a:schemeClr val="bg1"/>
                </a:solidFill>
              </a:rPr>
              <a:t>scrupule</a:t>
            </a:r>
            <a:r>
              <a:rPr lang="en-GB" sz="3600" dirty="0">
                <a:solidFill>
                  <a:schemeClr val="bg1"/>
                </a:solidFill>
              </a:rPr>
              <a:t> !</a:t>
            </a:r>
            <a:endParaRPr lang="fr-FR" sz="3600" dirty="0">
              <a:solidFill>
                <a:schemeClr val="bg1"/>
              </a:solidFill>
            </a:endParaRPr>
          </a:p>
          <a:p>
            <a:pPr marL="914400" lvl="0" indent="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None/>
            </a:pP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4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 dirty="0">
                <a:solidFill>
                  <a:schemeClr val="bg1"/>
                </a:solidFill>
              </a:rPr>
              <a:t>Concept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81" name="Google Shape;81;p4"/>
          <p:cNvSpPr txBox="1">
            <a:spLocks noGrp="1"/>
          </p:cNvSpPr>
          <p:nvPr>
            <p:ph type="body" idx="1"/>
          </p:nvPr>
        </p:nvSpPr>
        <p:spPr>
          <a:xfrm>
            <a:off x="311700" y="1147224"/>
            <a:ext cx="8520600" cy="35320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39700" indent="0">
              <a:buSzPts val="1400"/>
              <a:buNone/>
            </a:pPr>
            <a:r>
              <a:rPr lang="fr-FR" sz="1600" dirty="0">
                <a:solidFill>
                  <a:schemeClr val="bg1"/>
                </a:solidFill>
              </a:rPr>
              <a:t>Le joueur incarne un plongée avide d’argent. Il a remarqué que beaucoup de gens jetaient des choses depuis le pont. Mais personne n’ose aller les chercher car l’eau de la Loire est bien trop noire.</a:t>
            </a:r>
            <a:endParaRPr sz="1600" dirty="0">
              <a:solidFill>
                <a:schemeClr val="bg1"/>
              </a:solidFill>
            </a:endParaRPr>
          </a:p>
          <a:p>
            <a:pPr lvl="1">
              <a:spcBef>
                <a:spcPts val="0"/>
              </a:spcBef>
              <a:buChar char="■"/>
            </a:pPr>
            <a:r>
              <a:rPr lang="fr-FR" dirty="0">
                <a:solidFill>
                  <a:schemeClr val="bg1"/>
                </a:solidFill>
              </a:rPr>
              <a:t>Le personnage </a:t>
            </a:r>
            <a:r>
              <a:rPr lang="fr-FR" u="sng" dirty="0">
                <a:solidFill>
                  <a:schemeClr val="bg1"/>
                </a:solidFill>
              </a:rPr>
              <a:t>plonge</a:t>
            </a:r>
            <a:r>
              <a:rPr lang="fr-FR" dirty="0">
                <a:solidFill>
                  <a:schemeClr val="bg1"/>
                </a:solidFill>
              </a:rPr>
              <a:t> chaque jour afin de </a:t>
            </a:r>
            <a:r>
              <a:rPr lang="fr-FR" u="sng" dirty="0">
                <a:solidFill>
                  <a:schemeClr val="bg1"/>
                </a:solidFill>
              </a:rPr>
              <a:t>ramasser</a:t>
            </a:r>
            <a:r>
              <a:rPr lang="fr-FR" dirty="0">
                <a:solidFill>
                  <a:schemeClr val="bg1"/>
                </a:solidFill>
              </a:rPr>
              <a:t> les trésors abandonnés. Mais la noirceur l’empêche d’aller dans les profondeurs. Chaque élément ramassé sous l’eau peut être </a:t>
            </a:r>
            <a:r>
              <a:rPr lang="fr-FR" u="sng" dirty="0">
                <a:solidFill>
                  <a:schemeClr val="bg1"/>
                </a:solidFill>
              </a:rPr>
              <a:t>revendu</a:t>
            </a:r>
            <a:r>
              <a:rPr lang="fr-FR" dirty="0">
                <a:solidFill>
                  <a:schemeClr val="bg1"/>
                </a:solidFill>
              </a:rPr>
              <a:t>.</a:t>
            </a:r>
            <a:endParaRPr dirty="0">
              <a:solidFill>
                <a:schemeClr val="bg1"/>
              </a:solidFill>
            </a:endParaRPr>
          </a:p>
          <a:p>
            <a:pPr lvl="1">
              <a:spcBef>
                <a:spcPts val="0"/>
              </a:spcBef>
              <a:buChar char="■"/>
            </a:pPr>
            <a:r>
              <a:rPr lang="en-GB" dirty="0">
                <a:solidFill>
                  <a:schemeClr val="bg1"/>
                </a:solidFill>
              </a:rPr>
              <a:t>Le </a:t>
            </a:r>
            <a:r>
              <a:rPr lang="en-GB" dirty="0" err="1">
                <a:solidFill>
                  <a:schemeClr val="bg1"/>
                </a:solidFill>
              </a:rPr>
              <a:t>joueur</a:t>
            </a:r>
            <a:r>
              <a:rPr lang="en-GB" dirty="0">
                <a:solidFill>
                  <a:schemeClr val="bg1"/>
                </a:solidFill>
              </a:rPr>
              <a:t> doit </a:t>
            </a:r>
            <a:r>
              <a:rPr lang="en-GB" dirty="0" err="1">
                <a:solidFill>
                  <a:schemeClr val="bg1"/>
                </a:solidFill>
              </a:rPr>
              <a:t>réussir</a:t>
            </a:r>
            <a:r>
              <a:rPr lang="en-GB" dirty="0">
                <a:solidFill>
                  <a:schemeClr val="bg1"/>
                </a:solidFill>
              </a:rPr>
              <a:t> à </a:t>
            </a:r>
            <a:r>
              <a:rPr lang="fr-FR" u="sng" dirty="0">
                <a:solidFill>
                  <a:schemeClr val="bg1"/>
                </a:solidFill>
              </a:rPr>
              <a:t>atteindre le fond </a:t>
            </a:r>
            <a:r>
              <a:rPr lang="fr-FR" dirty="0">
                <a:solidFill>
                  <a:schemeClr val="bg1"/>
                </a:solidFill>
              </a:rPr>
              <a:t>de la Loire pour y trouver les trésors rares. Il doit </a:t>
            </a:r>
            <a:r>
              <a:rPr lang="fr-FR" u="sng" dirty="0">
                <a:solidFill>
                  <a:schemeClr val="bg1"/>
                </a:solidFill>
              </a:rPr>
              <a:t>améliorer son équipement </a:t>
            </a:r>
            <a:r>
              <a:rPr lang="fr-FR" dirty="0">
                <a:solidFill>
                  <a:schemeClr val="bg1"/>
                </a:solidFill>
              </a:rPr>
              <a:t>via ses ventes pour progresser. </a:t>
            </a:r>
          </a:p>
          <a:p>
            <a:pPr lvl="1">
              <a:spcBef>
                <a:spcPts val="0"/>
              </a:spcBef>
              <a:buChar char="■"/>
            </a:pPr>
            <a:r>
              <a:rPr lang="fr-FR" dirty="0">
                <a:solidFill>
                  <a:schemeClr val="bg1"/>
                </a:solidFill>
              </a:rPr>
              <a:t>La drague passe chaque jour sous le pont, élargissant la fosse des butins. Mais son passage aspire des trésors possibles. Le joueur doit </a:t>
            </a:r>
            <a:r>
              <a:rPr lang="fr-FR" u="sng" dirty="0">
                <a:solidFill>
                  <a:schemeClr val="bg1"/>
                </a:solidFill>
              </a:rPr>
              <a:t>trouver la bonne période dans la journée </a:t>
            </a:r>
            <a:r>
              <a:rPr lang="fr-FR" dirty="0">
                <a:solidFill>
                  <a:schemeClr val="bg1"/>
                </a:solidFill>
              </a:rPr>
              <a:t>pour plonger 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5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 dirty="0">
                <a:solidFill>
                  <a:schemeClr val="bg1"/>
                </a:solidFill>
              </a:rPr>
              <a:t>Information </a:t>
            </a:r>
            <a:r>
              <a:rPr lang="en-GB" dirty="0" err="1">
                <a:solidFill>
                  <a:schemeClr val="bg1"/>
                </a:solidFill>
              </a:rPr>
              <a:t>générale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87" name="Google Shape;87;p5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dirty="0">
              <a:solidFill>
                <a:schemeClr val="bg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r>
              <a:rPr lang="en-GB" dirty="0">
                <a:solidFill>
                  <a:schemeClr val="bg1"/>
                </a:solidFill>
              </a:rPr>
              <a:t>Point de </a:t>
            </a:r>
            <a:r>
              <a:rPr lang="en-GB" dirty="0" err="1">
                <a:solidFill>
                  <a:schemeClr val="bg1"/>
                </a:solidFill>
              </a:rPr>
              <a:t>vue</a:t>
            </a:r>
            <a:endParaRPr dirty="0">
              <a:solidFill>
                <a:schemeClr val="bg1"/>
              </a:solidFill>
            </a:endParaRPr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fr-FR" dirty="0" err="1">
                <a:solidFill>
                  <a:schemeClr val="bg1"/>
                </a:solidFill>
              </a:rPr>
              <a:t>Side</a:t>
            </a:r>
            <a:r>
              <a:rPr lang="fr-FR" dirty="0">
                <a:solidFill>
                  <a:schemeClr val="bg1"/>
                </a:solidFill>
              </a:rPr>
              <a:t>-scroller 2D en pixel art. </a:t>
            </a:r>
            <a:endParaRPr dirty="0">
              <a:solidFill>
                <a:schemeClr val="bg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>
                <a:solidFill>
                  <a:schemeClr val="bg1"/>
                </a:solidFill>
              </a:rPr>
              <a:t>Genre de jeu</a:t>
            </a:r>
            <a:endParaRPr dirty="0">
              <a:solidFill>
                <a:schemeClr val="bg1"/>
              </a:solidFill>
            </a:endParaRPr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fr-FR" dirty="0">
                <a:solidFill>
                  <a:schemeClr val="bg1"/>
                </a:solidFill>
              </a:rPr>
              <a:t>Casual RPG-like avec </a:t>
            </a:r>
            <a:r>
              <a:rPr lang="fr-FR" dirty="0" err="1">
                <a:solidFill>
                  <a:schemeClr val="bg1"/>
                </a:solidFill>
              </a:rPr>
              <a:t>incrementals</a:t>
            </a:r>
            <a:r>
              <a:rPr lang="fr-FR" dirty="0">
                <a:solidFill>
                  <a:schemeClr val="bg1"/>
                </a:solidFill>
              </a:rPr>
              <a:t> </a:t>
            </a:r>
            <a:r>
              <a:rPr lang="fr-FR" dirty="0" err="1">
                <a:solidFill>
                  <a:schemeClr val="bg1"/>
                </a:solidFill>
              </a:rPr>
              <a:t>elements</a:t>
            </a:r>
            <a:r>
              <a:rPr lang="fr-FR" dirty="0">
                <a:solidFill>
                  <a:schemeClr val="bg1"/>
                </a:solidFill>
              </a:rPr>
              <a:t>.</a:t>
            </a:r>
            <a:endParaRPr dirty="0">
              <a:solidFill>
                <a:schemeClr val="bg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 err="1">
                <a:solidFill>
                  <a:schemeClr val="bg1"/>
                </a:solidFill>
              </a:rPr>
              <a:t>Plateforme</a:t>
            </a:r>
            <a:endParaRPr dirty="0">
              <a:solidFill>
                <a:schemeClr val="bg1"/>
              </a:solidFill>
            </a:endParaRPr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>
                <a:solidFill>
                  <a:schemeClr val="bg1"/>
                </a:solidFill>
              </a:rPr>
              <a:t>PC et consoles</a:t>
            </a:r>
            <a:endParaRPr dirty="0">
              <a:solidFill>
                <a:schemeClr val="bg1"/>
              </a:solidFill>
            </a:endParaRPr>
          </a:p>
          <a:p>
            <a:pPr marL="45720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None/>
            </a:pPr>
            <a:endParaRPr dirty="0">
              <a:solidFill>
                <a:schemeClr val="bg1"/>
              </a:solidFill>
            </a:endParaRPr>
          </a:p>
          <a:p>
            <a:pPr marL="457200" lvl="0" indent="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None/>
            </a:pPr>
            <a:endParaRPr dirty="0">
              <a:solidFill>
                <a:schemeClr val="bg1"/>
              </a:solidFill>
            </a:endParaRPr>
          </a:p>
        </p:txBody>
      </p:sp>
      <p:pic>
        <p:nvPicPr>
          <p:cNvPr id="2050" name="Picture 2" descr="Capture d'écran nº 0">
            <a:extLst>
              <a:ext uri="{FF2B5EF4-FFF2-40B4-BE49-F238E27FC236}">
                <a16:creationId xmlns:a16="http://schemas.microsoft.com/office/drawing/2014/main" id="{EDDC8010-A900-2BB0-3C00-2E13939A58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2550" y="564275"/>
            <a:ext cx="3676898" cy="2068255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6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 dirty="0">
                <a:solidFill>
                  <a:schemeClr val="bg1"/>
                </a:solidFill>
              </a:rPr>
              <a:t>Creative Values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93" name="Google Shape;93;p6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-"/>
            </a:pPr>
            <a:r>
              <a:rPr lang="fr-FR" dirty="0">
                <a:solidFill>
                  <a:schemeClr val="bg1"/>
                </a:solidFill>
              </a:rPr>
              <a:t>Casual : mécaniques et systèmes simples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-"/>
            </a:pPr>
            <a:r>
              <a:rPr lang="fr-FR" dirty="0">
                <a:solidFill>
                  <a:schemeClr val="bg1"/>
                </a:solidFill>
              </a:rPr>
              <a:t>Progressif : les actions avancent directement la progression du jeu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-"/>
            </a:pPr>
            <a:r>
              <a:rPr lang="fr-FR" dirty="0">
                <a:solidFill>
                  <a:schemeClr val="bg1"/>
                </a:solidFill>
              </a:rPr>
              <a:t>Moralisateur : histoire sans accro avec retournement de situation brutal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7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 dirty="0">
                <a:solidFill>
                  <a:schemeClr val="bg1"/>
                </a:solidFill>
              </a:rPr>
              <a:t>Core Game Loop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99" name="Google Shape;99;p7"/>
          <p:cNvSpPr/>
          <p:nvPr/>
        </p:nvSpPr>
        <p:spPr>
          <a:xfrm>
            <a:off x="3095127" y="1753975"/>
            <a:ext cx="1161300" cy="989100"/>
          </a:xfrm>
          <a:prstGeom prst="ellipse">
            <a:avLst/>
          </a:prstGeom>
          <a:solidFill>
            <a:srgbClr val="D9EAD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 dirty="0" err="1">
                <a:solidFill>
                  <a:srgbClr val="000000"/>
                </a:solidFill>
                <a:latin typeface="Economica"/>
                <a:ea typeface="Economica"/>
                <a:cs typeface="Economica"/>
                <a:sym typeface="Economica"/>
              </a:rPr>
              <a:t>Plonger</a:t>
            </a:r>
            <a:endParaRPr sz="1400" b="0" i="0" u="none" strike="noStrike" cap="none" dirty="0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</p:txBody>
      </p:sp>
      <p:sp>
        <p:nvSpPr>
          <p:cNvPr id="100" name="Google Shape;100;p7"/>
          <p:cNvSpPr/>
          <p:nvPr/>
        </p:nvSpPr>
        <p:spPr>
          <a:xfrm>
            <a:off x="4218991" y="2982059"/>
            <a:ext cx="1161300" cy="989100"/>
          </a:xfrm>
          <a:prstGeom prst="ellipse">
            <a:avLst/>
          </a:prstGeom>
          <a:solidFill>
            <a:srgbClr val="FFF2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400" b="0" i="0" u="none" strike="noStrike" cap="none" dirty="0" err="1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Acquérir</a:t>
            </a:r>
            <a:r>
              <a:rPr lang="en-GB" sz="1400" b="0" i="0" u="none" strike="noStrike" cap="none" dirty="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 des items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7"/>
          <p:cNvSpPr/>
          <p:nvPr/>
        </p:nvSpPr>
        <p:spPr>
          <a:xfrm>
            <a:off x="1969975" y="2982059"/>
            <a:ext cx="1161300" cy="989100"/>
          </a:xfrm>
          <a:prstGeom prst="ellipse">
            <a:avLst/>
          </a:prstGeom>
          <a:solidFill>
            <a:srgbClr val="F4CC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400" b="0" i="0" u="none" strike="noStrike" cap="none" dirty="0" err="1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Vendre</a:t>
            </a:r>
            <a:r>
              <a:rPr lang="en-GB" sz="1400" b="0" i="0" u="none" strike="noStrike" cap="none" dirty="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 / Upgrade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7"/>
          <p:cNvSpPr/>
          <p:nvPr/>
        </p:nvSpPr>
        <p:spPr>
          <a:xfrm rot="-3086972">
            <a:off x="2714326" y="2643323"/>
            <a:ext cx="417360" cy="252674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0000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7"/>
          <p:cNvSpPr/>
          <p:nvPr/>
        </p:nvSpPr>
        <p:spPr>
          <a:xfrm rot="2706987">
            <a:off x="4189332" y="2676301"/>
            <a:ext cx="417477" cy="25265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0000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7"/>
          <p:cNvSpPr/>
          <p:nvPr/>
        </p:nvSpPr>
        <p:spPr>
          <a:xfrm rot="-10668795">
            <a:off x="3389382" y="3515605"/>
            <a:ext cx="416703" cy="253082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0000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7"/>
          <p:cNvSpPr txBox="1"/>
          <p:nvPr/>
        </p:nvSpPr>
        <p:spPr>
          <a:xfrm>
            <a:off x="5550550" y="1287725"/>
            <a:ext cx="3281750" cy="352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Economica"/>
              <a:buChar char="●"/>
            </a:pPr>
            <a:r>
              <a:rPr lang="fr-FR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Plonger</a:t>
            </a: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Economica"/>
              <a:buChar char="○"/>
            </a:pPr>
            <a:r>
              <a:rPr lang="fr-FR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Planifier l’heure de plongée</a:t>
            </a: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Economica"/>
              <a:buChar char="○"/>
            </a:pPr>
            <a:r>
              <a:rPr lang="fr-FR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Plonger</a:t>
            </a: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Char char="●"/>
            </a:pPr>
            <a:r>
              <a:rPr lang="fr-FR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Acquérir des items</a:t>
            </a: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Char char="○"/>
            </a:pPr>
            <a:r>
              <a:rPr lang="fr-FR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Ramasser des items sans valeur</a:t>
            </a: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Char char="○"/>
            </a:pPr>
            <a:r>
              <a:rPr lang="fr-CA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Ramasser des items avec valeur</a:t>
            </a:r>
          </a:p>
          <a:p>
            <a: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Char char="○"/>
            </a:pPr>
            <a:r>
              <a:rPr lang="fr-CA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Ramasser des items sur l’histoire</a:t>
            </a: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Char char="●"/>
            </a:pPr>
            <a:r>
              <a:rPr lang="fr-FR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Vendre / Upgrade</a:t>
            </a: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Char char="○"/>
            </a:pPr>
            <a:r>
              <a:rPr lang="fr-FR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Vendre les items</a:t>
            </a: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Char char="○"/>
            </a:pPr>
            <a:r>
              <a:rPr lang="fr-FR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Upgrader l’équipement de plongée</a:t>
            </a: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Char char="○"/>
            </a:pPr>
            <a:r>
              <a:rPr lang="en-GB" sz="1400" b="0" i="0" u="none" strike="noStrike" cap="none" dirty="0" err="1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Acheter</a:t>
            </a:r>
            <a:r>
              <a:rPr lang="en-GB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 des </a:t>
            </a:r>
            <a:r>
              <a:rPr lang="en-GB" sz="1400" b="0" i="0" u="none" strike="noStrike" cap="none" dirty="0" err="1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informations</a:t>
            </a:r>
            <a:r>
              <a:rPr lang="en-GB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 sur le passage de la </a:t>
            </a:r>
            <a:r>
              <a:rPr lang="en-GB" sz="1400" b="0" i="0" u="none" strike="noStrike" cap="none" dirty="0" err="1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drague</a:t>
            </a: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8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/>
              <a:t>Main features</a:t>
            </a:r>
            <a:endParaRPr/>
          </a:p>
        </p:txBody>
      </p:sp>
      <p:sp>
        <p:nvSpPr>
          <p:cNvPr id="111" name="Google Shape;111;p8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fr-FR" dirty="0"/>
              <a:t>Système de planification </a:t>
            </a:r>
          </a:p>
          <a:p>
            <a:pPr lvl="1" indent="-342900">
              <a:spcBef>
                <a:spcPts val="0"/>
              </a:spcBef>
              <a:buSzPts val="1800"/>
              <a:buChar char="●"/>
            </a:pPr>
            <a:r>
              <a:rPr lang="fr-FR" dirty="0"/>
              <a:t>Chaque matin/début de journée, le joueur doit planifier son heure de plongée en fonction de la drague qui passe dans </a:t>
            </a:r>
            <a:r>
              <a:rPr lang="fr-FR"/>
              <a:t>le chenal. </a:t>
            </a:r>
          </a:p>
          <a:p>
            <a:pPr lvl="1" indent="-342900">
              <a:spcBef>
                <a:spcPts val="0"/>
              </a:spcBef>
              <a:buSzPts val="1800"/>
              <a:buChar char="●"/>
            </a:pPr>
            <a:endParaRPr dirty="0"/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Minimum de 4 </a:t>
            </a:r>
            <a:r>
              <a:rPr lang="en-GB" dirty="0" err="1"/>
              <a:t>systèmes</a:t>
            </a:r>
            <a:r>
              <a:rPr lang="en-GB" dirty="0"/>
              <a:t> (Ex: Navigation, Combat, etc)</a:t>
            </a:r>
            <a:endParaRPr dirty="0"/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Avec au </a:t>
            </a:r>
            <a:r>
              <a:rPr lang="en-GB" dirty="0" err="1"/>
              <a:t>moins</a:t>
            </a:r>
            <a:r>
              <a:rPr lang="en-GB" dirty="0"/>
              <a:t> 2 </a:t>
            </a:r>
            <a:r>
              <a:rPr lang="en-GB" dirty="0" err="1"/>
              <a:t>mécaniques</a:t>
            </a:r>
            <a:r>
              <a:rPr lang="en-GB" dirty="0"/>
              <a:t> par </a:t>
            </a:r>
            <a:r>
              <a:rPr lang="en-GB" dirty="0" err="1"/>
              <a:t>système</a:t>
            </a:r>
            <a:r>
              <a:rPr lang="en-GB" dirty="0"/>
              <a:t> (Ex: </a:t>
            </a:r>
            <a:r>
              <a:rPr lang="en-GB" dirty="0" err="1"/>
              <a:t>Courir</a:t>
            </a:r>
            <a:r>
              <a:rPr lang="en-GB" dirty="0"/>
              <a:t>, </a:t>
            </a:r>
            <a:r>
              <a:rPr lang="en-GB" dirty="0" err="1"/>
              <a:t>frapper</a:t>
            </a:r>
            <a:r>
              <a:rPr lang="en-GB" dirty="0"/>
              <a:t>, etc)</a:t>
            </a: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8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/>
              <a:t>Main features</a:t>
            </a:r>
            <a:endParaRPr/>
          </a:p>
        </p:txBody>
      </p:sp>
      <p:sp>
        <p:nvSpPr>
          <p:cNvPr id="111" name="Google Shape;111;p8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 err="1"/>
              <a:t>Systèmes</a:t>
            </a:r>
            <a:r>
              <a:rPr lang="en-GB" dirty="0"/>
              <a:t> </a:t>
            </a:r>
            <a:r>
              <a:rPr lang="en-GB" dirty="0" err="1"/>
              <a:t>nécessaires</a:t>
            </a:r>
            <a:r>
              <a:rPr lang="en-GB" dirty="0"/>
              <a:t> à </a:t>
            </a:r>
            <a:r>
              <a:rPr lang="en-GB" dirty="0" err="1"/>
              <a:t>ce</a:t>
            </a:r>
            <a:r>
              <a:rPr lang="en-GB" dirty="0"/>
              <a:t> que je </a:t>
            </a:r>
            <a:r>
              <a:rPr lang="en-GB" dirty="0" err="1"/>
              <a:t>puisse</a:t>
            </a:r>
            <a:r>
              <a:rPr lang="en-GB" dirty="0"/>
              <a:t> </a:t>
            </a:r>
            <a:r>
              <a:rPr lang="en-GB" dirty="0" err="1"/>
              <a:t>remplir</a:t>
            </a:r>
            <a:r>
              <a:rPr lang="en-GB" dirty="0"/>
              <a:t> les action de </a:t>
            </a:r>
            <a:r>
              <a:rPr lang="en-GB" dirty="0" err="1"/>
              <a:t>mes</a:t>
            </a:r>
            <a:r>
              <a:rPr lang="en-GB" dirty="0"/>
              <a:t> game loops</a:t>
            </a:r>
            <a:endParaRPr dirty="0"/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Minimum de 4 </a:t>
            </a:r>
            <a:r>
              <a:rPr lang="en-GB" dirty="0" err="1"/>
              <a:t>systèmes</a:t>
            </a:r>
            <a:r>
              <a:rPr lang="en-GB" dirty="0"/>
              <a:t> (Ex: Navigation, Combat, etc)</a:t>
            </a:r>
            <a:endParaRPr dirty="0"/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Avec au </a:t>
            </a:r>
            <a:r>
              <a:rPr lang="en-GB" dirty="0" err="1"/>
              <a:t>moins</a:t>
            </a:r>
            <a:r>
              <a:rPr lang="en-GB" dirty="0"/>
              <a:t> 2 </a:t>
            </a:r>
            <a:r>
              <a:rPr lang="en-GB" dirty="0" err="1"/>
              <a:t>mécaniques</a:t>
            </a:r>
            <a:r>
              <a:rPr lang="en-GB" dirty="0"/>
              <a:t> par </a:t>
            </a:r>
            <a:r>
              <a:rPr lang="en-GB" dirty="0" err="1"/>
              <a:t>système</a:t>
            </a:r>
            <a:r>
              <a:rPr lang="en-GB" dirty="0"/>
              <a:t> (Ex: </a:t>
            </a:r>
            <a:r>
              <a:rPr lang="en-GB" dirty="0" err="1"/>
              <a:t>Courir</a:t>
            </a:r>
            <a:r>
              <a:rPr lang="en-GB" dirty="0"/>
              <a:t>, </a:t>
            </a:r>
            <a:r>
              <a:rPr lang="en-GB" dirty="0" err="1"/>
              <a:t>frapper</a:t>
            </a:r>
            <a:r>
              <a:rPr lang="en-GB" dirty="0"/>
              <a:t>, etc)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264488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8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/>
              <a:t>Main features</a:t>
            </a:r>
            <a:endParaRPr/>
          </a:p>
        </p:txBody>
      </p:sp>
      <p:sp>
        <p:nvSpPr>
          <p:cNvPr id="111" name="Google Shape;111;p8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 err="1"/>
              <a:t>Systèmes</a:t>
            </a:r>
            <a:r>
              <a:rPr lang="en-GB" dirty="0"/>
              <a:t> </a:t>
            </a:r>
            <a:r>
              <a:rPr lang="en-GB" dirty="0" err="1"/>
              <a:t>nécessaires</a:t>
            </a:r>
            <a:r>
              <a:rPr lang="en-GB" dirty="0"/>
              <a:t> à </a:t>
            </a:r>
            <a:r>
              <a:rPr lang="en-GB" dirty="0" err="1"/>
              <a:t>ce</a:t>
            </a:r>
            <a:r>
              <a:rPr lang="en-GB" dirty="0"/>
              <a:t> que je </a:t>
            </a:r>
            <a:r>
              <a:rPr lang="en-GB" dirty="0" err="1"/>
              <a:t>puisse</a:t>
            </a:r>
            <a:r>
              <a:rPr lang="en-GB" dirty="0"/>
              <a:t> </a:t>
            </a:r>
            <a:r>
              <a:rPr lang="en-GB" dirty="0" err="1"/>
              <a:t>remplir</a:t>
            </a:r>
            <a:r>
              <a:rPr lang="en-GB" dirty="0"/>
              <a:t> les action de </a:t>
            </a:r>
            <a:r>
              <a:rPr lang="en-GB" dirty="0" err="1"/>
              <a:t>mes</a:t>
            </a:r>
            <a:r>
              <a:rPr lang="en-GB" dirty="0"/>
              <a:t> game loops</a:t>
            </a:r>
            <a:endParaRPr dirty="0"/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Minimum de 4 </a:t>
            </a:r>
            <a:r>
              <a:rPr lang="en-GB" dirty="0" err="1"/>
              <a:t>systèmes</a:t>
            </a:r>
            <a:r>
              <a:rPr lang="en-GB" dirty="0"/>
              <a:t> (Ex: Navigation, Combat, etc)</a:t>
            </a:r>
            <a:endParaRPr dirty="0"/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Avec au </a:t>
            </a:r>
            <a:r>
              <a:rPr lang="en-GB" dirty="0" err="1"/>
              <a:t>moins</a:t>
            </a:r>
            <a:r>
              <a:rPr lang="en-GB" dirty="0"/>
              <a:t> 2 </a:t>
            </a:r>
            <a:r>
              <a:rPr lang="en-GB" dirty="0" err="1"/>
              <a:t>mécaniques</a:t>
            </a:r>
            <a:r>
              <a:rPr lang="en-GB" dirty="0"/>
              <a:t> par </a:t>
            </a:r>
            <a:r>
              <a:rPr lang="en-GB" dirty="0" err="1"/>
              <a:t>système</a:t>
            </a:r>
            <a:r>
              <a:rPr lang="en-GB" dirty="0"/>
              <a:t> (Ex: </a:t>
            </a:r>
            <a:r>
              <a:rPr lang="en-GB" dirty="0" err="1"/>
              <a:t>Courir</a:t>
            </a:r>
            <a:r>
              <a:rPr lang="en-GB" dirty="0"/>
              <a:t>, </a:t>
            </a:r>
            <a:r>
              <a:rPr lang="en-GB" dirty="0" err="1"/>
              <a:t>frapper</a:t>
            </a:r>
            <a:r>
              <a:rPr lang="en-GB" dirty="0"/>
              <a:t>, etc)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813013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8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/>
              <a:t>Main features</a:t>
            </a:r>
            <a:endParaRPr/>
          </a:p>
        </p:txBody>
      </p:sp>
      <p:sp>
        <p:nvSpPr>
          <p:cNvPr id="111" name="Google Shape;111;p8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 err="1"/>
              <a:t>Systèmes</a:t>
            </a:r>
            <a:r>
              <a:rPr lang="en-GB" dirty="0"/>
              <a:t> </a:t>
            </a:r>
            <a:r>
              <a:rPr lang="en-GB" dirty="0" err="1"/>
              <a:t>nécessaires</a:t>
            </a:r>
            <a:r>
              <a:rPr lang="en-GB" dirty="0"/>
              <a:t> à </a:t>
            </a:r>
            <a:r>
              <a:rPr lang="en-GB" dirty="0" err="1"/>
              <a:t>ce</a:t>
            </a:r>
            <a:r>
              <a:rPr lang="en-GB" dirty="0"/>
              <a:t> que je </a:t>
            </a:r>
            <a:r>
              <a:rPr lang="en-GB" dirty="0" err="1"/>
              <a:t>puisse</a:t>
            </a:r>
            <a:r>
              <a:rPr lang="en-GB" dirty="0"/>
              <a:t> </a:t>
            </a:r>
            <a:r>
              <a:rPr lang="en-GB" dirty="0" err="1"/>
              <a:t>remplir</a:t>
            </a:r>
            <a:r>
              <a:rPr lang="en-GB" dirty="0"/>
              <a:t> les action de </a:t>
            </a:r>
            <a:r>
              <a:rPr lang="en-GB" dirty="0" err="1"/>
              <a:t>mes</a:t>
            </a:r>
            <a:r>
              <a:rPr lang="en-GB" dirty="0"/>
              <a:t> game loops</a:t>
            </a:r>
            <a:endParaRPr dirty="0"/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Minimum de 4 </a:t>
            </a:r>
            <a:r>
              <a:rPr lang="en-GB" dirty="0" err="1"/>
              <a:t>systèmes</a:t>
            </a:r>
            <a:r>
              <a:rPr lang="en-GB" dirty="0"/>
              <a:t> (Ex: Navigation, Combat, etc)</a:t>
            </a:r>
            <a:endParaRPr dirty="0"/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Avec au </a:t>
            </a:r>
            <a:r>
              <a:rPr lang="en-GB" dirty="0" err="1"/>
              <a:t>moins</a:t>
            </a:r>
            <a:r>
              <a:rPr lang="en-GB" dirty="0"/>
              <a:t> 2 </a:t>
            </a:r>
            <a:r>
              <a:rPr lang="en-GB" dirty="0" err="1"/>
              <a:t>mécaniques</a:t>
            </a:r>
            <a:r>
              <a:rPr lang="en-GB" dirty="0"/>
              <a:t> par </a:t>
            </a:r>
            <a:r>
              <a:rPr lang="en-GB" dirty="0" err="1"/>
              <a:t>système</a:t>
            </a:r>
            <a:r>
              <a:rPr lang="en-GB" dirty="0"/>
              <a:t> (Ex: </a:t>
            </a:r>
            <a:r>
              <a:rPr lang="en-GB" dirty="0" err="1"/>
              <a:t>Courir</a:t>
            </a:r>
            <a:r>
              <a:rPr lang="en-GB" dirty="0"/>
              <a:t>, </a:t>
            </a:r>
            <a:r>
              <a:rPr lang="en-GB" dirty="0" err="1"/>
              <a:t>frapper</a:t>
            </a:r>
            <a:r>
              <a:rPr lang="en-GB" dirty="0"/>
              <a:t>, etc)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168275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9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/>
              <a:t>3Cs Character</a:t>
            </a:r>
            <a:endParaRPr/>
          </a:p>
        </p:txBody>
      </p:sp>
      <p:sp>
        <p:nvSpPr>
          <p:cNvPr id="117" name="Google Shape;117;p9"/>
          <p:cNvSpPr/>
          <p:nvPr/>
        </p:nvSpPr>
        <p:spPr>
          <a:xfrm>
            <a:off x="384825" y="1161925"/>
            <a:ext cx="1916700" cy="36930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Economica"/>
                <a:ea typeface="Economica"/>
                <a:cs typeface="Economica"/>
                <a:sym typeface="Economica"/>
              </a:rPr>
              <a:t>Image de mon perso</a:t>
            </a:r>
            <a:endParaRPr sz="1400" b="0" i="0" u="none" strike="noStrike" cap="none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Economica"/>
                <a:ea typeface="Economica"/>
                <a:cs typeface="Economica"/>
                <a:sym typeface="Economica"/>
              </a:rPr>
              <a:t>Ou inspiration de</a:t>
            </a:r>
            <a:endParaRPr sz="1400" b="0" i="0" u="none" strike="noStrike" cap="none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</p:txBody>
      </p:sp>
      <p:sp>
        <p:nvSpPr>
          <p:cNvPr id="118" name="Google Shape;118;p9"/>
          <p:cNvSpPr txBox="1"/>
          <p:nvPr/>
        </p:nvSpPr>
        <p:spPr>
          <a:xfrm>
            <a:off x="2501450" y="1154500"/>
            <a:ext cx="6534900" cy="255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Economica"/>
                <a:ea typeface="Economica"/>
                <a:cs typeface="Economica"/>
                <a:sym typeface="Economica"/>
              </a:rPr>
              <a:t>Mouvements ex:</a:t>
            </a:r>
            <a:endParaRPr sz="1400" b="0" i="0" u="none" strike="noStrike" cap="none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Economica"/>
              <a:buChar char="●"/>
            </a:pPr>
            <a:r>
              <a:rPr lang="en-GB" sz="1400" b="0" i="0" u="none" strike="noStrike" cap="none">
                <a:solidFill>
                  <a:srgbClr val="000000"/>
                </a:solidFill>
                <a:latin typeface="Economica"/>
                <a:ea typeface="Economica"/>
                <a:cs typeface="Economica"/>
                <a:sym typeface="Economica"/>
              </a:rPr>
              <a:t>Courir</a:t>
            </a:r>
            <a:endParaRPr sz="1400" b="0" i="0" u="none" strike="noStrike" cap="none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Economica"/>
              <a:buChar char="●"/>
            </a:pPr>
            <a:r>
              <a:rPr lang="en-GB" sz="1400" b="0" i="0" u="none" strike="noStrike" cap="none">
                <a:solidFill>
                  <a:srgbClr val="000000"/>
                </a:solidFill>
                <a:latin typeface="Economica"/>
                <a:ea typeface="Economica"/>
                <a:cs typeface="Economica"/>
                <a:sym typeface="Economica"/>
              </a:rPr>
              <a:t>Marcher</a:t>
            </a:r>
            <a:endParaRPr sz="1400" b="0" i="0" u="none" strike="noStrike" cap="none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Economica"/>
              <a:buChar char="●"/>
            </a:pPr>
            <a:r>
              <a:rPr lang="en-GB" sz="1400" b="0" i="0" u="none" strike="noStrike" cap="none">
                <a:solidFill>
                  <a:srgbClr val="000000"/>
                </a:solidFill>
                <a:latin typeface="Economica"/>
                <a:ea typeface="Economica"/>
                <a:cs typeface="Economica"/>
                <a:sym typeface="Economica"/>
              </a:rPr>
              <a:t>Strafer </a:t>
            </a:r>
            <a:endParaRPr sz="1400" b="0" i="0" u="none" strike="noStrike" cap="none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Economica"/>
              <a:buChar char="●"/>
            </a:pPr>
            <a:r>
              <a:rPr lang="en-GB" sz="1400" b="0" i="0" u="none" strike="noStrike" cap="none">
                <a:solidFill>
                  <a:srgbClr val="000000"/>
                </a:solidFill>
                <a:latin typeface="Economica"/>
                <a:ea typeface="Economica"/>
                <a:cs typeface="Economica"/>
                <a:sym typeface="Economica"/>
              </a:rPr>
              <a:t>etc</a:t>
            </a:r>
            <a:endParaRPr sz="1400" b="0" i="0" u="none" strike="noStrike" cap="none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Economica"/>
                <a:ea typeface="Economica"/>
                <a:cs typeface="Economica"/>
                <a:sym typeface="Economica"/>
              </a:rPr>
              <a:t>Abiletés ex:</a:t>
            </a:r>
            <a:endParaRPr sz="1400" b="0" i="0" u="none" strike="noStrike" cap="none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Economica"/>
              <a:buChar char="●"/>
            </a:pPr>
            <a:r>
              <a:rPr lang="en-GB" sz="1400" b="0" i="0" u="none" strike="noStrike" cap="none">
                <a:solidFill>
                  <a:srgbClr val="000000"/>
                </a:solidFill>
                <a:latin typeface="Economica"/>
                <a:ea typeface="Economica"/>
                <a:cs typeface="Economica"/>
                <a:sym typeface="Economica"/>
              </a:rPr>
              <a:t>Tirer</a:t>
            </a:r>
            <a:endParaRPr sz="1400" b="0" i="0" u="none" strike="noStrike" cap="none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Economica"/>
              <a:buChar char="●"/>
            </a:pPr>
            <a:r>
              <a:rPr lang="en-GB" sz="1400" b="0" i="0" u="none" strike="noStrike" cap="none">
                <a:solidFill>
                  <a:srgbClr val="000000"/>
                </a:solidFill>
                <a:latin typeface="Economica"/>
                <a:ea typeface="Economica"/>
                <a:cs typeface="Economica"/>
                <a:sym typeface="Economica"/>
              </a:rPr>
              <a:t>Viser</a:t>
            </a:r>
            <a:endParaRPr sz="1400" b="0" i="0" u="none" strike="noStrike" cap="none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Economica"/>
              <a:buChar char="●"/>
            </a:pPr>
            <a:r>
              <a:rPr lang="en-GB" sz="1400" b="0" i="0" u="none" strike="noStrike" cap="none">
                <a:solidFill>
                  <a:srgbClr val="000000"/>
                </a:solidFill>
                <a:latin typeface="Economica"/>
                <a:ea typeface="Economica"/>
                <a:cs typeface="Economica"/>
                <a:sym typeface="Economica"/>
              </a:rPr>
              <a:t>Sauter</a:t>
            </a:r>
            <a:endParaRPr sz="1400" b="0" i="0" u="none" strike="noStrike" cap="none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Economica"/>
              <a:buChar char="●"/>
            </a:pPr>
            <a:r>
              <a:rPr lang="en-GB" sz="1400" b="0" i="0" u="none" strike="noStrike" cap="none">
                <a:solidFill>
                  <a:srgbClr val="000000"/>
                </a:solidFill>
                <a:latin typeface="Economica"/>
                <a:ea typeface="Economica"/>
                <a:cs typeface="Economica"/>
                <a:sym typeface="Economica"/>
              </a:rPr>
              <a:t>etc.</a:t>
            </a:r>
            <a:endParaRPr sz="1400" b="0" i="0" u="none" strike="noStrike" cap="none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0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/>
              <a:t>3Cs Character (bis)</a:t>
            </a:r>
            <a:endParaRPr/>
          </a:p>
        </p:txBody>
      </p:sp>
      <p:sp>
        <p:nvSpPr>
          <p:cNvPr id="124" name="Google Shape;124;p10"/>
          <p:cNvSpPr/>
          <p:nvPr/>
        </p:nvSpPr>
        <p:spPr>
          <a:xfrm>
            <a:off x="384825" y="1161925"/>
            <a:ext cx="1916700" cy="36930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Economica"/>
                <a:ea typeface="Economica"/>
                <a:cs typeface="Economica"/>
                <a:sym typeface="Economica"/>
              </a:rPr>
              <a:t>Image de mon perso</a:t>
            </a:r>
            <a:endParaRPr sz="1400" b="0" i="0" u="none" strike="noStrike" cap="none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Economica"/>
                <a:ea typeface="Economica"/>
                <a:cs typeface="Economica"/>
                <a:sym typeface="Economica"/>
              </a:rPr>
              <a:t>Ou inspiration de</a:t>
            </a:r>
            <a:endParaRPr sz="1400" b="0" i="0" u="none" strike="noStrike" cap="none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</p:txBody>
      </p:sp>
      <p:sp>
        <p:nvSpPr>
          <p:cNvPr id="125" name="Google Shape;125;p10"/>
          <p:cNvSpPr txBox="1"/>
          <p:nvPr/>
        </p:nvSpPr>
        <p:spPr>
          <a:xfrm>
            <a:off x="2501450" y="1154500"/>
            <a:ext cx="6534900" cy="32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Economica"/>
                <a:ea typeface="Economica"/>
                <a:cs typeface="Economica"/>
                <a:sym typeface="Economica"/>
              </a:rPr>
              <a:t>Personnalité</a:t>
            </a:r>
            <a:endParaRPr sz="1400" b="0" i="0" u="none" strike="noStrike" cap="none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Economica"/>
              <a:buChar char="●"/>
            </a:pPr>
            <a:r>
              <a:rPr lang="en-GB" sz="1400" b="0" i="0" u="none" strike="noStrike" cap="none">
                <a:solidFill>
                  <a:srgbClr val="000000"/>
                </a:solidFill>
                <a:latin typeface="Economica"/>
                <a:ea typeface="Economica"/>
                <a:cs typeface="Economica"/>
                <a:sym typeface="Economica"/>
              </a:rPr>
              <a:t>Petite description, pas un roman</a:t>
            </a:r>
            <a:endParaRPr sz="1400" b="0" i="0" u="none" strike="noStrike" cap="none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Economica"/>
                <a:ea typeface="Economica"/>
                <a:cs typeface="Economica"/>
                <a:sym typeface="Economica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Economica"/>
                <a:ea typeface="Economica"/>
                <a:cs typeface="Economica"/>
                <a:sym typeface="Economica"/>
              </a:rPr>
              <a:t>Taille (métrique)</a:t>
            </a:r>
            <a:endParaRPr sz="1400" b="0" i="0" u="none" strike="noStrike" cap="none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Economica"/>
              <a:buChar char="●"/>
            </a:pPr>
            <a:r>
              <a:rPr lang="en-GB" sz="1400" b="0" i="0" u="none" strike="noStrike" cap="none">
                <a:solidFill>
                  <a:srgbClr val="000000"/>
                </a:solidFill>
                <a:latin typeface="Economica"/>
                <a:ea typeface="Economica"/>
                <a:cs typeface="Economica"/>
                <a:sym typeface="Economica"/>
              </a:rPr>
              <a:t>2 units de haut 1 unit de large</a:t>
            </a:r>
            <a:endParaRPr sz="1400" b="0" i="0" u="none" strike="noStrike" cap="none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Economica"/>
              <a:buChar char="●"/>
            </a:pPr>
            <a:r>
              <a:rPr lang="en-GB" sz="1400" b="0" i="0" u="none" strike="noStrike" cap="none">
                <a:solidFill>
                  <a:srgbClr val="000000"/>
                </a:solidFill>
                <a:latin typeface="Economica"/>
                <a:ea typeface="Economica"/>
                <a:cs typeface="Economica"/>
                <a:sym typeface="Economica"/>
              </a:rPr>
              <a:t>Portée épée 3 unités</a:t>
            </a:r>
            <a:endParaRPr sz="1400" b="0" i="0" u="none" strike="noStrike" cap="none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Economica"/>
              <a:buChar char="●"/>
            </a:pPr>
            <a:r>
              <a:rPr lang="en-GB" sz="1400" b="0" i="0" u="none" strike="noStrike" cap="none">
                <a:solidFill>
                  <a:srgbClr val="000000"/>
                </a:solidFill>
                <a:latin typeface="Economica"/>
                <a:ea typeface="Economica"/>
                <a:cs typeface="Economica"/>
                <a:sym typeface="Economica"/>
              </a:rPr>
              <a:t>Portée Bazooka 35 unités</a:t>
            </a:r>
            <a:endParaRPr sz="1400" b="0" i="0" u="none" strike="noStrike" cap="none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Economica"/>
              <a:buChar char="●"/>
            </a:pPr>
            <a:r>
              <a:rPr lang="en-GB" sz="1400" b="0" i="0" u="none" strike="noStrike" cap="none">
                <a:solidFill>
                  <a:srgbClr val="000000"/>
                </a:solidFill>
                <a:latin typeface="Economica"/>
                <a:ea typeface="Economica"/>
                <a:cs typeface="Economica"/>
                <a:sym typeface="Economica"/>
              </a:rPr>
              <a:t>etc.</a:t>
            </a:r>
            <a:endParaRPr sz="1400" b="0" i="0" u="none" strike="noStrike" cap="none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1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/>
              <a:t>3Cs Contrôles</a:t>
            </a:r>
            <a:endParaRPr/>
          </a:p>
        </p:txBody>
      </p:sp>
      <p:graphicFrame>
        <p:nvGraphicFramePr>
          <p:cNvPr id="131" name="Google Shape;131;p11"/>
          <p:cNvGraphicFramePr/>
          <p:nvPr/>
        </p:nvGraphicFramePr>
        <p:xfrm>
          <a:off x="952500" y="1619250"/>
          <a:ext cx="7239000" cy="2834490"/>
        </p:xfrm>
        <a:graphic>
          <a:graphicData uri="http://schemas.openxmlformats.org/drawingml/2006/table">
            <a:tbl>
              <a:tblPr>
                <a:noFill/>
                <a:tableStyleId>{5E7111E6-7E48-4233-AF02-AB37C635197C}</a:tableStyleId>
              </a:tblPr>
              <a:tblGrid>
                <a:gridCol w="241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1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1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>
                          <a:solidFill>
                            <a:srgbClr val="FFFFFF"/>
                          </a:solidFill>
                        </a:rPr>
                        <a:t>Contrôles</a:t>
                      </a:r>
                      <a:endParaRPr sz="1400" u="none" strike="noStrike" cap="none"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>
                    <a:solidFill>
                      <a:srgbClr val="1C458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>
                          <a:solidFill>
                            <a:srgbClr val="FFFFFF"/>
                          </a:solidFill>
                        </a:rPr>
                        <a:t>In-Game</a:t>
                      </a:r>
                      <a:endParaRPr sz="1400" u="none" strike="noStrike" cap="none"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>
                    <a:solidFill>
                      <a:srgbClr val="1C458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>
                          <a:solidFill>
                            <a:srgbClr val="FFFFFF"/>
                          </a:solidFill>
                        </a:rPr>
                        <a:t>Menus</a:t>
                      </a:r>
                      <a:endParaRPr sz="1400" u="none" strike="noStrike" cap="none"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>
                    <a:solidFill>
                      <a:srgbClr val="1C4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/>
                        <a:t>W</a:t>
                      </a:r>
                      <a:endParaRPr sz="1400" u="none" strike="noStrike" cap="none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/>
                        <a:t>Avancer</a:t>
                      </a:r>
                      <a:endParaRPr sz="1400" u="none" strike="noStrike" cap="none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/>
                        <a:t>Changer la sélection vers le haut</a:t>
                      </a:r>
                      <a:endParaRPr sz="1400" u="none" strike="noStrike" cap="none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/>
                        <a:t>S</a:t>
                      </a:r>
                      <a:endParaRPr sz="1400" u="none" strike="noStrike" cap="none"/>
                    </a:p>
                  </a:txBody>
                  <a:tcPr marL="91425" marR="91425" marT="91425" marB="91425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/>
                        <a:t>Reculer</a:t>
                      </a:r>
                      <a:endParaRPr sz="1400" u="none" strike="noStrike" cap="none"/>
                    </a:p>
                  </a:txBody>
                  <a:tcPr marL="91425" marR="91425" marT="91425" marB="91425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/>
                        <a:t>Changer la sélection vers le bas</a:t>
                      </a:r>
                      <a:endParaRPr sz="1400" u="none" strike="noStrike" cap="none"/>
                    </a:p>
                  </a:txBody>
                  <a:tcPr marL="91425" marR="91425" marT="91425" marB="91425">
                    <a:solidFill>
                      <a:srgbClr val="C9D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/>
                        <a:t>A</a:t>
                      </a:r>
                      <a:endParaRPr sz="1400" u="none" strike="noStrike" cap="none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/>
                        <a:t>Strafer à gauche</a:t>
                      </a:r>
                      <a:endParaRPr sz="1400" u="none" strike="noStrike" cap="none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/>
                        <a:t>Changer la sélection vers la gauche</a:t>
                      </a:r>
                      <a:endParaRPr sz="1400" u="none" strike="noStrike" cap="none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/>
                        <a:t>D</a:t>
                      </a:r>
                      <a:endParaRPr sz="1400" u="none" strike="noStrike" cap="none"/>
                    </a:p>
                  </a:txBody>
                  <a:tcPr marL="91425" marR="91425" marT="91425" marB="91425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/>
                        <a:t>Strafer à droite</a:t>
                      </a:r>
                      <a:endParaRPr sz="1400" u="none" strike="noStrike" cap="none"/>
                    </a:p>
                  </a:txBody>
                  <a:tcPr marL="91425" marR="91425" marT="91425" marB="91425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/>
                        <a:t>Changer la sélection vers la droite</a:t>
                      </a:r>
                      <a:endParaRPr sz="1400" u="none" strike="noStrike" cap="none"/>
                    </a:p>
                  </a:txBody>
                  <a:tcPr marL="91425" marR="91425" marT="91425" marB="91425">
                    <a:solidFill>
                      <a:srgbClr val="C9D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2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/>
              <a:t>3Cs Caméra</a:t>
            </a:r>
            <a:endParaRPr/>
          </a:p>
        </p:txBody>
      </p:sp>
      <p:sp>
        <p:nvSpPr>
          <p:cNvPr id="137" name="Google Shape;137;p12"/>
          <p:cNvSpPr txBox="1"/>
          <p:nvPr/>
        </p:nvSpPr>
        <p:spPr>
          <a:xfrm>
            <a:off x="347825" y="1184125"/>
            <a:ext cx="8429400" cy="147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In-game camera</a:t>
            </a:r>
            <a:endParaRPr sz="1400" b="0" i="0" u="none" strike="noStrike" cap="non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pen Sans"/>
              <a:buChar char="●"/>
            </a:pPr>
            <a:r>
              <a:rPr lang="en-GB" sz="1400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Ex: Caméra 3e personne, dynamique, éloignée en survol</a:t>
            </a:r>
            <a:endParaRPr sz="1400" b="0" i="0" u="none" strike="noStrike" cap="non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pen Sans"/>
              <a:buChar char="●"/>
            </a:pPr>
            <a:r>
              <a:rPr lang="en-GB" sz="1400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IMAGE QUI REPRÉSENTE CETTE CAMÉRA</a:t>
            </a:r>
            <a:endParaRPr sz="1400" b="0" i="0" u="none" strike="noStrike" cap="non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pen Sans"/>
              <a:buChar char="●"/>
            </a:pPr>
            <a:r>
              <a:rPr lang="en-GB" sz="1400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Comportement Ex: Caméra entre en collision avec les murs et plafonds et slide pour se positionner derrière le perso quitte à rendre le person transparent.</a:t>
            </a:r>
            <a:endParaRPr sz="1400" b="0" i="0" u="none" strike="noStrike" cap="non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3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/>
              <a:t>GPIs</a:t>
            </a:r>
            <a:endParaRPr/>
          </a:p>
        </p:txBody>
      </p:sp>
      <p:sp>
        <p:nvSpPr>
          <p:cNvPr id="143" name="Google Shape;143;p13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EX: GPI 1 = Ennemi corps-à-corps</a:t>
            </a:r>
            <a:endParaRPr/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Levier 1: HP de l’ennemi</a:t>
            </a:r>
            <a:endParaRPr/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Levier 2: Complexité des patterns de l’ennemi</a:t>
            </a:r>
            <a:endParaRPr/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Description: L’ennemi essaie de se rendre au corps à corps le plus rapidement possible. Une fois à la bonne distance, il donne [X] coups d’épée et recule pour [Y] secondes avant de recommencer.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None/>
            </a:pPr>
            <a:r>
              <a:rPr lang="en-GB"/>
              <a:t>GPIs minimum 5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4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/>
              <a:t>Annexe 1.</a:t>
            </a:r>
            <a:endParaRPr/>
          </a:p>
        </p:txBody>
      </p:sp>
      <p:sp>
        <p:nvSpPr>
          <p:cNvPr id="149" name="Google Shape;149;p14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1800"/>
              <a:buNone/>
            </a:pPr>
            <a:r>
              <a:rPr lang="en-GB"/>
              <a:t>Boucles de Jeux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5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/>
              <a:t>Annexe 2.</a:t>
            </a:r>
            <a:endParaRPr/>
          </a:p>
        </p:txBody>
      </p:sp>
      <p:sp>
        <p:nvSpPr>
          <p:cNvPr id="155" name="Google Shape;155;p15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1800"/>
              <a:buNone/>
            </a:pPr>
            <a:r>
              <a:rPr lang="en-GB"/>
              <a:t>3Cs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6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/>
              <a:t>Annexe 3.</a:t>
            </a:r>
            <a:endParaRPr/>
          </a:p>
        </p:txBody>
      </p:sp>
      <p:sp>
        <p:nvSpPr>
          <p:cNvPr id="161" name="Google Shape;161;p16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1800"/>
              <a:buNone/>
            </a:pPr>
            <a:r>
              <a:rPr lang="en-GB"/>
              <a:t>Mécanique Principale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uxe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607D8B"/>
      </a:accent3>
      <a:accent4>
        <a:srgbClr val="78909C"/>
      </a:accent4>
      <a:accent5>
        <a:srgbClr val="57BB8A"/>
      </a:accent5>
      <a:accent6>
        <a:srgbClr val="DCE755"/>
      </a:accent6>
      <a:hlink>
        <a:srgbClr val="57BB8A"/>
      </a:hlink>
      <a:folHlink>
        <a:srgbClr val="57BB8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549</TotalTime>
  <Words>758</Words>
  <Application>Microsoft Office PowerPoint</Application>
  <PresentationFormat>Affichage à l'écran (16:9)</PresentationFormat>
  <Paragraphs>122</Paragraphs>
  <Slides>19</Slides>
  <Notes>18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19</vt:i4>
      </vt:variant>
    </vt:vector>
  </HeadingPairs>
  <TitlesOfParts>
    <vt:vector size="24" baseType="lpstr">
      <vt:lpstr>OpineHeavy</vt:lpstr>
      <vt:lpstr>Economica</vt:lpstr>
      <vt:lpstr>Open Sans</vt:lpstr>
      <vt:lpstr>Arial</vt:lpstr>
      <vt:lpstr>Luxe</vt:lpstr>
      <vt:lpstr>Présentation PowerPoint</vt:lpstr>
      <vt:lpstr>Inspirations</vt:lpstr>
      <vt:lpstr>Elevator Pitch</vt:lpstr>
      <vt:lpstr>Concept</vt:lpstr>
      <vt:lpstr>Information générale</vt:lpstr>
      <vt:lpstr>Creative Values</vt:lpstr>
      <vt:lpstr>Core Game Loop</vt:lpstr>
      <vt:lpstr>Main features</vt:lpstr>
      <vt:lpstr>Main features</vt:lpstr>
      <vt:lpstr>Main features</vt:lpstr>
      <vt:lpstr>Main features</vt:lpstr>
      <vt:lpstr>3Cs Character</vt:lpstr>
      <vt:lpstr>3Cs Character (bis)</vt:lpstr>
      <vt:lpstr>3Cs Contrôles</vt:lpstr>
      <vt:lpstr>3Cs Caméra</vt:lpstr>
      <vt:lpstr>GPIs</vt:lpstr>
      <vt:lpstr>Annexe 1.</vt:lpstr>
      <vt:lpstr>Annexe 2.</vt:lpstr>
      <vt:lpstr>Annexe 3.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Kevin Tramp</cp:lastModifiedBy>
  <cp:revision>25</cp:revision>
  <dcterms:modified xsi:type="dcterms:W3CDTF">2026-10-28T10:50:02Z</dcterms:modified>
</cp:coreProperties>
</file>