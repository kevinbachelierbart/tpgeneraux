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75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Economica" panose="020B0604020202020204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ineHeavy" panose="020B0604020202020204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vIUtGSNpVopzYnf23dxEsE/fd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EF4"/>
    <a:srgbClr val="0A5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7111E6-7E48-4233-AF02-AB37C635197C}">
  <a:tblStyle styleId="{5E7111E6-7E48-4233-AF02-AB37C63519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20" y="4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29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862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13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" name="Google Shape;22;p20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27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57E9E7-981C-2623-5E7B-541BE431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819"/>
          <a:stretch/>
        </p:blipFill>
        <p:spPr>
          <a:xfrm>
            <a:off x="1657350" y="628650"/>
            <a:ext cx="5829300" cy="338800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32F1095-5711-1DFB-476E-041FA2F15B87}"/>
              </a:ext>
            </a:extLst>
          </p:cNvPr>
          <p:cNvSpPr txBox="1"/>
          <p:nvPr/>
        </p:nvSpPr>
        <p:spPr>
          <a:xfrm>
            <a:off x="2257723" y="4026233"/>
            <a:ext cx="46285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OpineHeavy" pitchFamily="2" charset="0"/>
              </a:rPr>
              <a:t>SINTA ZARANIE</a:t>
            </a:r>
          </a:p>
        </p:txBody>
      </p:sp>
    </p:spTree>
    <p:extLst>
      <p:ext uri="{BB962C8B-B14F-4D97-AF65-F5344CB8AC3E}">
        <p14:creationId xmlns:p14="http://schemas.microsoft.com/office/powerpoint/2010/main" val="393137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Inspirations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5470986" cy="170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fr-FR" sz="1200" b="1" dirty="0">
                <a:solidFill>
                  <a:schemeClr val="bg1"/>
                </a:solidFill>
              </a:rPr>
              <a:t>Saint-Nazaire</a:t>
            </a:r>
            <a:r>
              <a:rPr lang="fr-FR" sz="1200" dirty="0">
                <a:solidFill>
                  <a:schemeClr val="bg1"/>
                </a:solidFill>
              </a:rPr>
              <a:t> est ma ville de naissance. Il y a un pont long de presque 4kms qui mène à Saint-Brévin. Un jour, je me suis demandé si des gens jetaient des objets depuis le sommet. Ce serait intéressant d’aller retrouver ces objets en plongée. </a:t>
            </a:r>
          </a:p>
          <a:p>
            <a:pPr marL="114300" indent="0">
              <a:buNone/>
            </a:pPr>
            <a:r>
              <a:rPr lang="fr-FR" sz="1200" dirty="0">
                <a:solidFill>
                  <a:schemeClr val="bg1"/>
                </a:solidFill>
              </a:rPr>
              <a:t>Imaginez </a:t>
            </a:r>
            <a:r>
              <a:rPr lang="fr-FR" sz="1200" i="1" dirty="0">
                <a:solidFill>
                  <a:schemeClr val="bg1"/>
                </a:solidFill>
              </a:rPr>
              <a:t>Dave the </a:t>
            </a:r>
            <a:r>
              <a:rPr lang="fr-FR" sz="1200" i="1" dirty="0" err="1">
                <a:solidFill>
                  <a:schemeClr val="bg1"/>
                </a:solidFill>
              </a:rPr>
              <a:t>Diver</a:t>
            </a:r>
            <a:r>
              <a:rPr lang="fr-FR" sz="1200" i="1" dirty="0">
                <a:solidFill>
                  <a:schemeClr val="bg1"/>
                </a:solidFill>
              </a:rPr>
              <a:t> </a:t>
            </a:r>
            <a:r>
              <a:rPr lang="fr-FR" sz="1200" dirty="0">
                <a:solidFill>
                  <a:schemeClr val="bg1"/>
                </a:solidFill>
              </a:rPr>
              <a:t>qui part retrouver ces trésors. Mais pas pour l’histoire, pas pour la curiosité. Pour la richesse.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33428B-16B8-46D8-2769-F9C5CA9D4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187333"/>
            <a:ext cx="2276838" cy="127860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638ECB-A060-A0CF-34D7-4160C8AB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229" y="2929952"/>
            <a:ext cx="3323726" cy="19766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D76A94-9DFA-539F-ED8F-73DE698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46" y="3006052"/>
            <a:ext cx="2920335" cy="164116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0A76A37-D6BB-B318-D20E-03FF99FA4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107" y="589573"/>
            <a:ext cx="3126327" cy="1758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Elevator Pitch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5969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59690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600" b="1" dirty="0">
                <a:solidFill>
                  <a:schemeClr val="bg1"/>
                </a:solidFill>
              </a:rPr>
              <a:t>Sinta </a:t>
            </a:r>
            <a:r>
              <a:rPr lang="en-GB" sz="3600" b="1" dirty="0" err="1">
                <a:solidFill>
                  <a:schemeClr val="bg1"/>
                </a:solidFill>
              </a:rPr>
              <a:t>Zaranie</a:t>
            </a:r>
            <a:r>
              <a:rPr lang="en-GB" sz="3600" dirty="0">
                <a:solidFill>
                  <a:schemeClr val="bg1"/>
                </a:solidFill>
              </a:rPr>
              <a:t>, </a:t>
            </a:r>
            <a:r>
              <a:rPr lang="en-GB" sz="3600" dirty="0" err="1">
                <a:solidFill>
                  <a:schemeClr val="bg1"/>
                </a:solidFill>
              </a:rPr>
              <a:t>c’est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i="1" dirty="0">
                <a:solidFill>
                  <a:schemeClr val="bg1"/>
                </a:solidFill>
              </a:rPr>
              <a:t>Dave The Diver </a:t>
            </a:r>
            <a:r>
              <a:rPr lang="en-GB" sz="3600" dirty="0" err="1">
                <a:solidFill>
                  <a:schemeClr val="bg1"/>
                </a:solidFill>
              </a:rPr>
              <a:t>mais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cupide</a:t>
            </a:r>
            <a:r>
              <a:rPr lang="en-GB" sz="3600" dirty="0">
                <a:solidFill>
                  <a:schemeClr val="bg1"/>
                </a:solidFill>
              </a:rPr>
              <a:t> et sans </a:t>
            </a:r>
            <a:r>
              <a:rPr lang="en-GB" sz="3600" dirty="0" err="1">
                <a:solidFill>
                  <a:schemeClr val="bg1"/>
                </a:solidFill>
              </a:rPr>
              <a:t>scrupule</a:t>
            </a:r>
            <a:r>
              <a:rPr lang="en-GB" sz="3600" dirty="0">
                <a:solidFill>
                  <a:schemeClr val="bg1"/>
                </a:solidFill>
              </a:rPr>
              <a:t> !</a:t>
            </a:r>
            <a:endParaRPr lang="fr-FR" sz="3600" dirty="0">
              <a:solidFill>
                <a:schemeClr val="bg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Concept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311700" y="1147224"/>
            <a:ext cx="8520600" cy="353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SzPts val="1400"/>
              <a:buNone/>
            </a:pPr>
            <a:r>
              <a:rPr lang="fr-FR" sz="1600" dirty="0">
                <a:solidFill>
                  <a:schemeClr val="bg1"/>
                </a:solidFill>
              </a:rPr>
              <a:t>Le joueur incarne un plongée avide d’argent. Il a remarqué que beaucoup de gens jetaient des choses depuis le pont. Mais personne n’ose aller les chercher car l’eau de la Loire est bien trop noire.</a:t>
            </a:r>
            <a:endParaRPr sz="1600" dirty="0">
              <a:solidFill>
                <a:schemeClr val="bg1"/>
              </a:solidFill>
            </a:endParaRPr>
          </a:p>
          <a:p>
            <a:pPr lvl="1">
              <a:spcBef>
                <a:spcPts val="0"/>
              </a:spcBef>
              <a:buChar char="■"/>
            </a:pPr>
            <a:r>
              <a:rPr lang="fr-FR" dirty="0">
                <a:solidFill>
                  <a:schemeClr val="bg1"/>
                </a:solidFill>
              </a:rPr>
              <a:t>Le personnage </a:t>
            </a:r>
            <a:r>
              <a:rPr lang="fr-FR" u="sng" dirty="0">
                <a:solidFill>
                  <a:schemeClr val="bg1"/>
                </a:solidFill>
              </a:rPr>
              <a:t>plonge</a:t>
            </a:r>
            <a:r>
              <a:rPr lang="fr-FR" dirty="0">
                <a:solidFill>
                  <a:schemeClr val="bg1"/>
                </a:solidFill>
              </a:rPr>
              <a:t> chaque jour afin de </a:t>
            </a:r>
            <a:r>
              <a:rPr lang="fr-FR" u="sng" dirty="0">
                <a:solidFill>
                  <a:schemeClr val="bg1"/>
                </a:solidFill>
              </a:rPr>
              <a:t>ramasser</a:t>
            </a:r>
            <a:r>
              <a:rPr lang="fr-FR" dirty="0">
                <a:solidFill>
                  <a:schemeClr val="bg1"/>
                </a:solidFill>
              </a:rPr>
              <a:t> les trésors abandonnés. Mais la noirceur l’empêche d’aller dans les profondeurs. Chaque élément ramassé sous l’eau peut être </a:t>
            </a:r>
            <a:r>
              <a:rPr lang="fr-FR" u="sng" dirty="0">
                <a:solidFill>
                  <a:schemeClr val="bg1"/>
                </a:solidFill>
              </a:rPr>
              <a:t>revendu</a:t>
            </a:r>
            <a:r>
              <a:rPr lang="fr-FR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lvl="1">
              <a:spcBef>
                <a:spcPts val="0"/>
              </a:spcBef>
              <a:buChar char="■"/>
            </a:pPr>
            <a:r>
              <a:rPr lang="en-GB" dirty="0">
                <a:solidFill>
                  <a:schemeClr val="bg1"/>
                </a:solidFill>
              </a:rPr>
              <a:t>Le </a:t>
            </a:r>
            <a:r>
              <a:rPr lang="en-GB" dirty="0" err="1">
                <a:solidFill>
                  <a:schemeClr val="bg1"/>
                </a:solidFill>
              </a:rPr>
              <a:t>joueur</a:t>
            </a:r>
            <a:r>
              <a:rPr lang="en-GB" dirty="0">
                <a:solidFill>
                  <a:schemeClr val="bg1"/>
                </a:solidFill>
              </a:rPr>
              <a:t> doit </a:t>
            </a:r>
            <a:r>
              <a:rPr lang="en-GB" dirty="0" err="1">
                <a:solidFill>
                  <a:schemeClr val="bg1"/>
                </a:solidFill>
              </a:rPr>
              <a:t>réussir</a:t>
            </a:r>
            <a:r>
              <a:rPr lang="en-GB" dirty="0">
                <a:solidFill>
                  <a:schemeClr val="bg1"/>
                </a:solidFill>
              </a:rPr>
              <a:t> à </a:t>
            </a:r>
            <a:r>
              <a:rPr lang="fr-FR" u="sng" dirty="0">
                <a:solidFill>
                  <a:schemeClr val="bg1"/>
                </a:solidFill>
              </a:rPr>
              <a:t>atteindre le fond </a:t>
            </a:r>
            <a:r>
              <a:rPr lang="fr-FR" dirty="0">
                <a:solidFill>
                  <a:schemeClr val="bg1"/>
                </a:solidFill>
              </a:rPr>
              <a:t>de la Loire pour y trouver les trésors rares. Il doit </a:t>
            </a:r>
            <a:r>
              <a:rPr lang="fr-FR" u="sng" dirty="0">
                <a:solidFill>
                  <a:schemeClr val="bg1"/>
                </a:solidFill>
              </a:rPr>
              <a:t>améliorer son équipement </a:t>
            </a:r>
            <a:r>
              <a:rPr lang="fr-FR" dirty="0">
                <a:solidFill>
                  <a:schemeClr val="bg1"/>
                </a:solidFill>
              </a:rPr>
              <a:t>via ses ventes pour progresser. </a:t>
            </a:r>
          </a:p>
          <a:p>
            <a:pPr lvl="1">
              <a:spcBef>
                <a:spcPts val="0"/>
              </a:spcBef>
              <a:buChar char="■"/>
            </a:pPr>
            <a:r>
              <a:rPr lang="fr-FR" dirty="0">
                <a:solidFill>
                  <a:schemeClr val="bg1"/>
                </a:solidFill>
              </a:rPr>
              <a:t>La drague passe chaque jour sous le pont, élargissant la fosse des butins. Mais son passage aspire des trésors possibles. Le joueur doit </a:t>
            </a:r>
            <a:r>
              <a:rPr lang="fr-FR" u="sng" dirty="0">
                <a:solidFill>
                  <a:schemeClr val="bg1"/>
                </a:solidFill>
              </a:rPr>
              <a:t>trouver la bonne période dans la journée </a:t>
            </a:r>
            <a:r>
              <a:rPr lang="fr-FR" dirty="0">
                <a:solidFill>
                  <a:schemeClr val="bg1"/>
                </a:solidFill>
              </a:rPr>
              <a:t>pour plonger 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Information </a:t>
            </a:r>
            <a:r>
              <a:rPr lang="en-GB" dirty="0" err="1">
                <a:solidFill>
                  <a:schemeClr val="bg1"/>
                </a:solidFill>
              </a:rPr>
              <a:t>générale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bg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chemeClr val="bg1"/>
                </a:solidFill>
              </a:rPr>
              <a:t>Point de </a:t>
            </a:r>
            <a:r>
              <a:rPr lang="en-GB" dirty="0" err="1">
                <a:solidFill>
                  <a:schemeClr val="bg1"/>
                </a:solidFill>
              </a:rPr>
              <a:t>vue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dirty="0" err="1">
                <a:solidFill>
                  <a:schemeClr val="bg1"/>
                </a:solidFill>
              </a:rPr>
              <a:t>Side</a:t>
            </a:r>
            <a:r>
              <a:rPr lang="fr-FR" dirty="0">
                <a:solidFill>
                  <a:schemeClr val="bg1"/>
                </a:solidFill>
              </a:rPr>
              <a:t>-scroller 2D en pixel art. </a:t>
            </a:r>
            <a:endParaRPr dirty="0">
              <a:solidFill>
                <a:schemeClr val="bg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>
                <a:solidFill>
                  <a:schemeClr val="bg1"/>
                </a:solidFill>
              </a:rPr>
              <a:t>Genre de jeu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dirty="0">
                <a:solidFill>
                  <a:schemeClr val="bg1"/>
                </a:solidFill>
              </a:rPr>
              <a:t>Casual RPG-like avec </a:t>
            </a:r>
            <a:r>
              <a:rPr lang="fr-FR" dirty="0" err="1">
                <a:solidFill>
                  <a:schemeClr val="bg1"/>
                </a:solidFill>
              </a:rPr>
              <a:t>incrementals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elements</a:t>
            </a:r>
            <a:r>
              <a:rPr lang="fr-FR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solidFill>
                  <a:schemeClr val="bg1"/>
                </a:solidFill>
              </a:rPr>
              <a:t>Plateforme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solidFill>
                  <a:schemeClr val="bg1"/>
                </a:solidFill>
              </a:rPr>
              <a:t>PC et consoles</a:t>
            </a:r>
            <a:endParaRPr dirty="0">
              <a:solidFill>
                <a:schemeClr val="bg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bg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2050" name="Picture 2" descr="Capture d'écran nº 0">
            <a:extLst>
              <a:ext uri="{FF2B5EF4-FFF2-40B4-BE49-F238E27FC236}">
                <a16:creationId xmlns:a16="http://schemas.microsoft.com/office/drawing/2014/main" id="{EDDC8010-A900-2BB0-3C00-2E13939A5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550" y="564275"/>
            <a:ext cx="3676898" cy="20682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Creative Values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3" name="Google Shape;93;p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-FR" dirty="0">
                <a:solidFill>
                  <a:schemeClr val="bg1"/>
                </a:solidFill>
              </a:rPr>
              <a:t>Casual : mécaniques et systèmes simples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-FR" dirty="0">
                <a:solidFill>
                  <a:schemeClr val="bg1"/>
                </a:solidFill>
              </a:rPr>
              <a:t>Progressif : les actions avancent directement la progression du jeu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fr-FR" dirty="0">
                <a:solidFill>
                  <a:schemeClr val="bg1"/>
                </a:solidFill>
              </a:rPr>
              <a:t>Moralisateur : histoire sans accro avec retournement de situation brutal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Core Game Loop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095127" y="1753975"/>
            <a:ext cx="1161300" cy="9891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Plonger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218991" y="2982059"/>
            <a:ext cx="1161300" cy="989100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Acquérir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des items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969975" y="2982059"/>
            <a:ext cx="1161300" cy="9891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Vendre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/ Upgrade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 rot="-3086972">
            <a:off x="2714326" y="2643323"/>
            <a:ext cx="417360" cy="25267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 rot="2706987">
            <a:off x="4189332" y="2676301"/>
            <a:ext cx="417477" cy="252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 rot="-10668795">
            <a:off x="3389382" y="3515605"/>
            <a:ext cx="416703" cy="2530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5550550" y="1287725"/>
            <a:ext cx="328175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Plonger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○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Planifier l’heure de plongée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○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Plonger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Acquérir des items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Ramasser des items sans valeur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fr-CA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Ramasser des items avec valeur</a:t>
            </a: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fr-CA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Ramasser des items sur l’histoire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Vendre / Upgrade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Vendre les items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fr-FR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Upgrader l’équipement de plongée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Char char="○"/>
            </a:pPr>
            <a:r>
              <a:rPr lang="en-GB" sz="1400" b="0" i="0" u="none" strike="noStrike" cap="none" dirty="0" err="1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Acheter</a:t>
            </a:r>
            <a:r>
              <a:rPr lang="en-GB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 des </a:t>
            </a:r>
            <a:r>
              <a:rPr lang="en-GB" sz="1400" b="0" i="0" u="none" strike="noStrike" cap="none" dirty="0" err="1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informations</a:t>
            </a:r>
            <a:r>
              <a:rPr lang="en-GB" sz="1400" b="0" i="0" u="none" strike="noStrike" cap="none" dirty="0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 sur le passage de la </a:t>
            </a:r>
            <a:r>
              <a:rPr lang="en-GB" sz="1400" b="0" i="0" u="none" strike="noStrike" cap="none" dirty="0" err="1">
                <a:solidFill>
                  <a:schemeClr val="bg1"/>
                </a:solidFill>
                <a:latin typeface="Economica"/>
                <a:ea typeface="Economica"/>
                <a:cs typeface="Economica"/>
                <a:sym typeface="Economica"/>
              </a:rPr>
              <a:t>drague</a:t>
            </a:r>
            <a:endParaRPr sz="1400" b="0" i="0" u="none" strike="noStrike" cap="none" dirty="0">
              <a:solidFill>
                <a:schemeClr val="bg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Main features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>
                <a:solidFill>
                  <a:schemeClr val="bg1"/>
                </a:solidFill>
              </a:rPr>
              <a:t>Système de planification (Interface)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fr-FR" dirty="0">
                <a:solidFill>
                  <a:schemeClr val="bg1"/>
                </a:solidFill>
              </a:rPr>
              <a:t>Chaque matin/début de journée, le joueur doit planifier son heure de plongée en fonction de la drague qui passe dans le chenal. Selon la plage horaire choisie : </a:t>
            </a:r>
          </a:p>
          <a:p>
            <a:pPr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Drague vient de passer : Fosse plus large (navigation plus facile) mais moins de trésors</a:t>
            </a:r>
          </a:p>
          <a:p>
            <a:pPr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Drague est passé il y a 12h et moins : Fosse plus étroite et fréquence des trésors normale</a:t>
            </a:r>
          </a:p>
          <a:p>
            <a:pPr lvl="2" indent="-342900"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Drague est passé il y a plus de 12h : Fosse dangereuse et beaucoup de </a:t>
            </a:r>
            <a:r>
              <a:rPr lang="fr-FR" dirty="0" err="1">
                <a:solidFill>
                  <a:schemeClr val="bg1"/>
                </a:solidFill>
              </a:rPr>
              <a:t>loots</a:t>
            </a:r>
            <a:r>
              <a:rPr lang="fr-FR" dirty="0">
                <a:solidFill>
                  <a:schemeClr val="bg1"/>
                </a:solidFill>
              </a:rPr>
              <a:t>. 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Analyser</a:t>
            </a:r>
            <a:r>
              <a:rPr lang="fr-FR" dirty="0">
                <a:solidFill>
                  <a:schemeClr val="bg1"/>
                </a:solidFill>
              </a:rPr>
              <a:t> les données de la veille, voire l’avant-veille selon les upgrades achetées.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 err="1">
                <a:solidFill>
                  <a:schemeClr val="bg1"/>
                </a:solidFill>
              </a:rPr>
              <a:t>Sélectionner</a:t>
            </a:r>
            <a:r>
              <a:rPr lang="en-GB" dirty="0">
                <a:solidFill>
                  <a:schemeClr val="bg1"/>
                </a:solidFill>
              </a:rPr>
              <a:t> la plage </a:t>
            </a:r>
            <a:r>
              <a:rPr lang="en-GB" dirty="0" err="1">
                <a:solidFill>
                  <a:schemeClr val="bg1"/>
                </a:solidFill>
              </a:rPr>
              <a:t>horaire</a:t>
            </a:r>
            <a:r>
              <a:rPr lang="en-GB" dirty="0">
                <a:solidFill>
                  <a:schemeClr val="bg1"/>
                </a:solidFill>
              </a:rPr>
              <a:t> de </a:t>
            </a:r>
            <a:r>
              <a:rPr lang="en-GB" dirty="0" err="1">
                <a:solidFill>
                  <a:schemeClr val="bg1"/>
                </a:solidFill>
              </a:rPr>
              <a:t>plongée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Main features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>
                <a:solidFill>
                  <a:schemeClr val="bg1"/>
                </a:solidFill>
              </a:rPr>
              <a:t>Système de navigation de plongée</a:t>
            </a:r>
            <a:endParaRPr b="1"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Se déplacer : </a:t>
            </a:r>
            <a:r>
              <a:rPr lang="fr-FR" dirty="0">
                <a:solidFill>
                  <a:schemeClr val="bg1"/>
                </a:solidFill>
              </a:rPr>
              <a:t>dans les 2 axes. Déplacement illimité. Seule la jauge d’O² influence la durée de déplacement</a:t>
            </a: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Dash</a:t>
            </a:r>
            <a:r>
              <a:rPr lang="fr-FR" dirty="0">
                <a:solidFill>
                  <a:schemeClr val="bg1"/>
                </a:solidFill>
              </a:rPr>
              <a:t> : Permet de </a:t>
            </a:r>
            <a:r>
              <a:rPr lang="fr-FR" dirty="0" err="1">
                <a:solidFill>
                  <a:schemeClr val="bg1"/>
                </a:solidFill>
              </a:rPr>
              <a:t>dasher</a:t>
            </a:r>
            <a:r>
              <a:rPr lang="fr-FR" dirty="0">
                <a:solidFill>
                  <a:schemeClr val="bg1"/>
                </a:solidFill>
              </a:rPr>
              <a:t>. </a:t>
            </a:r>
            <a:r>
              <a:rPr lang="fr-FR" dirty="0" err="1">
                <a:solidFill>
                  <a:schemeClr val="bg1"/>
                </a:solidFill>
              </a:rPr>
              <a:t>Cooldown</a:t>
            </a:r>
            <a:r>
              <a:rPr lang="fr-FR" dirty="0">
                <a:solidFill>
                  <a:schemeClr val="bg1"/>
                </a:solidFill>
              </a:rPr>
              <a:t> de [x] secondes et perte d’air de [x].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>
                <a:solidFill>
                  <a:schemeClr val="bg1"/>
                </a:solidFill>
              </a:rPr>
              <a:t>Pointer la lumière </a:t>
            </a:r>
            <a:r>
              <a:rPr lang="en-GB" dirty="0">
                <a:solidFill>
                  <a:schemeClr val="bg1"/>
                </a:solidFill>
              </a:rPr>
              <a:t>: </a:t>
            </a:r>
            <a:r>
              <a:rPr lang="en-GB" dirty="0" err="1">
                <a:solidFill>
                  <a:schemeClr val="bg1"/>
                </a:solidFill>
              </a:rPr>
              <a:t>permet</a:t>
            </a:r>
            <a:r>
              <a:rPr lang="en-GB" dirty="0">
                <a:solidFill>
                  <a:schemeClr val="bg1"/>
                </a:solidFill>
              </a:rPr>
              <a:t> de se </a:t>
            </a:r>
            <a:r>
              <a:rPr lang="en-GB" dirty="0" err="1">
                <a:solidFill>
                  <a:schemeClr val="bg1"/>
                </a:solidFill>
              </a:rPr>
              <a:t>focaliser</a:t>
            </a:r>
            <a:r>
              <a:rPr lang="en-GB" dirty="0">
                <a:solidFill>
                  <a:schemeClr val="bg1"/>
                </a:solidFill>
              </a:rPr>
              <a:t> sur </a:t>
            </a:r>
            <a:r>
              <a:rPr lang="en-GB" dirty="0" err="1">
                <a:solidFill>
                  <a:schemeClr val="bg1"/>
                </a:solidFill>
              </a:rPr>
              <a:t>une</a:t>
            </a:r>
            <a:r>
              <a:rPr lang="en-GB" dirty="0">
                <a:solidFill>
                  <a:schemeClr val="bg1"/>
                </a:solidFill>
              </a:rPr>
              <a:t> zone precise </a:t>
            </a:r>
            <a:r>
              <a:rPr lang="en-GB" dirty="0" err="1">
                <a:solidFill>
                  <a:schemeClr val="bg1"/>
                </a:solidFill>
              </a:rPr>
              <a:t>durant</a:t>
            </a:r>
            <a:r>
              <a:rPr lang="en-GB" dirty="0">
                <a:solidFill>
                  <a:schemeClr val="bg1"/>
                </a:solidFill>
              </a:rPr>
              <a:t> la </a:t>
            </a:r>
            <a:r>
              <a:rPr lang="en-GB" dirty="0" err="1">
                <a:solidFill>
                  <a:schemeClr val="bg1"/>
                </a:solidFill>
              </a:rPr>
              <a:t>nage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4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Main features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>
                <a:solidFill>
                  <a:schemeClr val="bg1"/>
                </a:solidFill>
              </a:rPr>
              <a:t>Système de ramassage du </a:t>
            </a:r>
            <a:r>
              <a:rPr lang="fr-FR" b="1" dirty="0" err="1">
                <a:solidFill>
                  <a:schemeClr val="bg1"/>
                </a:solidFill>
              </a:rPr>
              <a:t>loot</a:t>
            </a:r>
            <a:endParaRPr b="1"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Simple </a:t>
            </a:r>
            <a:r>
              <a:rPr lang="fr-FR" b="1" dirty="0" err="1">
                <a:solidFill>
                  <a:schemeClr val="bg1"/>
                </a:solidFill>
              </a:rPr>
              <a:t>interact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: un input qui permet de ramasser du </a:t>
            </a:r>
            <a:r>
              <a:rPr lang="fr-FR" dirty="0" err="1">
                <a:solidFill>
                  <a:schemeClr val="bg1"/>
                </a:solidFill>
              </a:rPr>
              <a:t>loot</a:t>
            </a:r>
            <a:r>
              <a:rPr lang="fr-FR" dirty="0">
                <a:solidFill>
                  <a:schemeClr val="bg1"/>
                </a:solidFill>
              </a:rPr>
              <a:t> (possible pour les petits items)</a:t>
            </a: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 err="1">
                <a:solidFill>
                  <a:schemeClr val="bg1"/>
                </a:solidFill>
              </a:rPr>
              <a:t>Interact</a:t>
            </a:r>
            <a:r>
              <a:rPr lang="fr-FR" b="1" dirty="0">
                <a:solidFill>
                  <a:schemeClr val="bg1"/>
                </a:solidFill>
              </a:rPr>
              <a:t> spam </a:t>
            </a:r>
            <a:r>
              <a:rPr lang="fr-FR" dirty="0">
                <a:solidFill>
                  <a:schemeClr val="bg1"/>
                </a:solidFill>
              </a:rPr>
              <a:t>: demande d’appuyer x fois sur le bouton dans le délai requis pour sortir un gros item de la vase</a:t>
            </a: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Hold</a:t>
            </a:r>
            <a:r>
              <a:rPr lang="fr-FR" dirty="0">
                <a:solidFill>
                  <a:schemeClr val="bg1"/>
                </a:solidFill>
              </a:rPr>
              <a:t> : permet de gratter la vase pour voir si un objet est dedans. 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30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8EF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>
                <a:solidFill>
                  <a:schemeClr val="bg1"/>
                </a:solidFill>
              </a:rPr>
              <a:t>Main features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 dirty="0">
                <a:solidFill>
                  <a:schemeClr val="bg1"/>
                </a:solidFill>
              </a:rPr>
              <a:t>Système d’</a:t>
            </a:r>
            <a:r>
              <a:rPr lang="fr-FR" b="1" dirty="0" err="1">
                <a:solidFill>
                  <a:schemeClr val="bg1"/>
                </a:solidFill>
              </a:rPr>
              <a:t>uprade</a:t>
            </a:r>
            <a:r>
              <a:rPr lang="fr-FR" b="1" dirty="0">
                <a:solidFill>
                  <a:schemeClr val="bg1"/>
                </a:solidFill>
              </a:rPr>
              <a:t> (Interface)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olidFill>
                  <a:schemeClr val="bg1"/>
                </a:solidFill>
              </a:rPr>
              <a:t>Le système d’upgrade permet d’améliorer les différentes mécaniques du jeu (</a:t>
            </a:r>
            <a:r>
              <a:rPr lang="fr-FR" dirty="0" err="1">
                <a:solidFill>
                  <a:schemeClr val="bg1"/>
                </a:solidFill>
              </a:rPr>
              <a:t>dash</a:t>
            </a:r>
            <a:r>
              <a:rPr lang="fr-FR" dirty="0">
                <a:solidFill>
                  <a:schemeClr val="bg1"/>
                </a:solidFill>
              </a:rPr>
              <a:t>, conteneur d’O², lumière (fanal),…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 b="1" dirty="0">
                <a:solidFill>
                  <a:schemeClr val="bg1"/>
                </a:solidFill>
              </a:rPr>
              <a:t>Hold</a:t>
            </a:r>
            <a:r>
              <a:rPr lang="fr-FR" dirty="0">
                <a:solidFill>
                  <a:schemeClr val="bg1"/>
                </a:solidFill>
              </a:rPr>
              <a:t> : Valider l’upgrade d’un item</a:t>
            </a:r>
            <a:endParaRPr dirty="0">
              <a:solidFill>
                <a:schemeClr val="bg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solidFill>
                  <a:schemeClr val="bg1"/>
                </a:solidFill>
              </a:rPr>
              <a:t>Idée possible : </a:t>
            </a:r>
            <a:r>
              <a:rPr lang="en-GB" dirty="0" err="1">
                <a:solidFill>
                  <a:schemeClr val="bg1"/>
                </a:solidFill>
              </a:rPr>
              <a:t>scanneur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d’ID</a:t>
            </a:r>
            <a:r>
              <a:rPr lang="en-GB" dirty="0">
                <a:solidFill>
                  <a:schemeClr val="bg1"/>
                </a:solidFill>
              </a:rPr>
              <a:t> : il </a:t>
            </a:r>
            <a:r>
              <a:rPr lang="en-GB" dirty="0" err="1">
                <a:solidFill>
                  <a:schemeClr val="bg1"/>
                </a:solidFill>
              </a:rPr>
              <a:t>serait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peut-être</a:t>
            </a:r>
            <a:r>
              <a:rPr lang="en-GB" dirty="0">
                <a:solidFill>
                  <a:schemeClr val="bg1"/>
                </a:solidFill>
              </a:rPr>
              <a:t> possible de scanner les IDs </a:t>
            </a:r>
            <a:r>
              <a:rPr lang="en-GB" dirty="0" err="1">
                <a:solidFill>
                  <a:schemeClr val="bg1"/>
                </a:solidFill>
              </a:rPr>
              <a:t>trouvées</a:t>
            </a:r>
            <a:r>
              <a:rPr lang="en-GB" dirty="0">
                <a:solidFill>
                  <a:schemeClr val="bg1"/>
                </a:solidFill>
              </a:rPr>
              <a:t> pour </a:t>
            </a:r>
            <a:r>
              <a:rPr lang="en-GB" dirty="0" err="1">
                <a:solidFill>
                  <a:schemeClr val="bg1"/>
                </a:solidFill>
              </a:rPr>
              <a:t>connaître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une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adresse</a:t>
            </a:r>
            <a:r>
              <a:rPr lang="en-GB" dirty="0">
                <a:solidFill>
                  <a:schemeClr val="bg1"/>
                </a:solidFill>
              </a:rPr>
              <a:t>, un nom précis,… </a:t>
            </a:r>
            <a:r>
              <a:rPr lang="en-GB" dirty="0" err="1">
                <a:solidFill>
                  <a:schemeClr val="bg1"/>
                </a:solidFill>
              </a:rPr>
              <a:t>Mécanique</a:t>
            </a:r>
            <a:r>
              <a:rPr lang="en-GB" dirty="0">
                <a:solidFill>
                  <a:schemeClr val="bg1"/>
                </a:solidFill>
              </a:rPr>
              <a:t> → </a:t>
            </a:r>
            <a:r>
              <a:rPr lang="en-GB" b="1" dirty="0" err="1">
                <a:solidFill>
                  <a:schemeClr val="bg1"/>
                </a:solidFill>
              </a:rPr>
              <a:t>rentrer</a:t>
            </a:r>
            <a:r>
              <a:rPr lang="en-GB" b="1" dirty="0">
                <a:solidFill>
                  <a:schemeClr val="bg1"/>
                </a:solidFill>
              </a:rPr>
              <a:t> la carte dans le </a:t>
            </a:r>
            <a:r>
              <a:rPr lang="en-GB" b="1" dirty="0" err="1">
                <a:solidFill>
                  <a:schemeClr val="bg1"/>
                </a:solidFill>
              </a:rPr>
              <a:t>lecteur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en-GB" dirty="0" err="1">
                <a:solidFill>
                  <a:schemeClr val="bg1"/>
                </a:solidFill>
              </a:rPr>
              <a:t>puis</a:t>
            </a:r>
            <a:r>
              <a:rPr lang="en-GB" dirty="0">
                <a:solidFill>
                  <a:schemeClr val="bg1"/>
                </a:solidFill>
              </a:rPr>
              <a:t> la </a:t>
            </a:r>
            <a:r>
              <a:rPr lang="en-GB" dirty="0" err="1">
                <a:solidFill>
                  <a:schemeClr val="bg1"/>
                </a:solidFill>
              </a:rPr>
              <a:t>ressortir</a:t>
            </a:r>
            <a:r>
              <a:rPr lang="en-GB" dirty="0">
                <a:solidFill>
                  <a:schemeClr val="bg1"/>
                </a:solidFill>
              </a:rPr>
              <a:t>. 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82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dirty="0"/>
              <a:t>3Cs Character - Louis</a:t>
            </a:r>
            <a:endParaRPr dirty="0"/>
          </a:p>
        </p:txBody>
      </p:sp>
      <p:sp>
        <p:nvSpPr>
          <p:cNvPr id="118" name="Google Shape;118;p9"/>
          <p:cNvSpPr txBox="1"/>
          <p:nvPr/>
        </p:nvSpPr>
        <p:spPr>
          <a:xfrm>
            <a:off x="2501450" y="1154500"/>
            <a:ext cx="65349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Mouvements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Nager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Dasher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en-GB" dirty="0" err="1">
                <a:latin typeface="Economica"/>
                <a:ea typeface="Economica"/>
                <a:cs typeface="Economica"/>
                <a:sym typeface="Economica"/>
              </a:rPr>
              <a:t>Ramasser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item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Abiletés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: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Focus la lumière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Retirer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item 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coincé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dans la vase</a:t>
            </a:r>
            <a:endParaRPr lang="en-GB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B8AE71-35E4-B0D3-A912-34027C9F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40" y="1698522"/>
            <a:ext cx="1771897" cy="14670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3Cs Character (bis)</a:t>
            </a:r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2501450" y="1154500"/>
            <a:ext cx="65349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Personnalité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Louis est cupide et vénal. Il n’a d’intérêt que pour l’argent. </a:t>
            </a:r>
            <a:r>
              <a:rPr lang="fr-FR" dirty="0">
                <a:latin typeface="Economica"/>
                <a:ea typeface="Economica"/>
                <a:cs typeface="Economica"/>
                <a:sym typeface="Economica"/>
              </a:rPr>
              <a:t>Tout ce qu’il ramasse a une valeur financière. 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Taille (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métrique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3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units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de long et 1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units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de hauteur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Porte une </a:t>
            </a:r>
            <a:r>
              <a:rPr lang="fr-FR" sz="1400" b="0" i="0" u="none" strike="noStrike" cap="none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bombo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Portée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 Bazooka 35 </a:t>
            </a:r>
            <a:r>
              <a:rPr lang="en-GB" sz="1400" b="0" i="0" u="none" strike="noStrike" cap="none" dirty="0" err="1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unités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Economica"/>
              <a:buChar char="●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etc.</a:t>
            </a: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3AA7816-F51B-BC5A-13DA-E5D506154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40" y="1698522"/>
            <a:ext cx="1771897" cy="14670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3Cs Contrôles</a:t>
            </a:r>
            <a:endParaRPr/>
          </a:p>
        </p:txBody>
      </p:sp>
      <p:graphicFrame>
        <p:nvGraphicFramePr>
          <p:cNvPr id="131" name="Google Shape;131;p11"/>
          <p:cNvGraphicFramePr/>
          <p:nvPr/>
        </p:nvGraphicFramePr>
        <p:xfrm>
          <a:off x="952500" y="1619250"/>
          <a:ext cx="7239000" cy="2834490"/>
        </p:xfrm>
        <a:graphic>
          <a:graphicData uri="http://schemas.openxmlformats.org/drawingml/2006/table">
            <a:tbl>
              <a:tblPr>
                <a:noFill/>
                <a:tableStyleId>{5E7111E6-7E48-4233-AF02-AB37C635197C}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rgbClr val="FFFFFF"/>
                          </a:solidFill>
                        </a:rPr>
                        <a:t>Contrôles</a:t>
                      </a:r>
                      <a:endParaRPr sz="14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rgbClr val="FFFFFF"/>
                          </a:solidFill>
                        </a:rPr>
                        <a:t>In-Game</a:t>
                      </a:r>
                      <a:endParaRPr sz="14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rgbClr val="FFFFFF"/>
                          </a:solidFill>
                        </a:rPr>
                        <a:t>Menus</a:t>
                      </a:r>
                      <a:endParaRPr sz="14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W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Avancer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Changer la sélection vers le haut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Reculer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Changer la sélection vers le bas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Strafer à gauche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Changer la sélection vers la gauche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D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Strafer à droite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Changer la sélection vers la droite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3Cs Caméra</a:t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347825" y="1184125"/>
            <a:ext cx="8429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In-game camera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Ex: Caméra 3e personne, dynamique, éloignée en survol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 QUI REPRÉSENTE CETTE CAMÉRA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lang="en-GB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Comportement Ex: Caméra entre en collision avec les murs et plafonds et slide pour se positionner derrière le perso quitte à rendre le person transparent.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GPIs</a:t>
            </a:r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EX: GPI 1 = Ennemi corps-à-corps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Levier 1: HP de l’ennemi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Levier 2: Complexité des patterns de l’ennemi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Description: L’ennemi essaie de se rendre au corps à corps le plus rapidement possible. Une fois à la bonne distance, il donne [X] coups d’épée et recule pour [Y] secondes avant de recommencer.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GPIs minimum 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Annexe 1.</a:t>
            </a:r>
            <a:endParaRPr/>
          </a:p>
        </p:txBody>
      </p:sp>
      <p:sp>
        <p:nvSpPr>
          <p:cNvPr id="149" name="Google Shape;149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/>
              <a:t>Boucles de Jeux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Annexe 2.</a:t>
            </a:r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/>
              <a:t>3Cs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Annexe 3.</a:t>
            </a:r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/>
              <a:t>Mécanique Principale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874</Words>
  <Application>Microsoft Office PowerPoint</Application>
  <PresentationFormat>Affichage à l'écran (16:9)</PresentationFormat>
  <Paragraphs>121</Paragraphs>
  <Slides>19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Open Sans</vt:lpstr>
      <vt:lpstr>Arial</vt:lpstr>
      <vt:lpstr>OpineHeavy</vt:lpstr>
      <vt:lpstr>Economica</vt:lpstr>
      <vt:lpstr>Luxe</vt:lpstr>
      <vt:lpstr>Présentation PowerPoint</vt:lpstr>
      <vt:lpstr>Inspirations</vt:lpstr>
      <vt:lpstr>Elevator Pitch</vt:lpstr>
      <vt:lpstr>Concept</vt:lpstr>
      <vt:lpstr>Information générale</vt:lpstr>
      <vt:lpstr>Creative Values</vt:lpstr>
      <vt:lpstr>Core Game Loop</vt:lpstr>
      <vt:lpstr>Main features</vt:lpstr>
      <vt:lpstr>Main features</vt:lpstr>
      <vt:lpstr>Main features</vt:lpstr>
      <vt:lpstr>Main features</vt:lpstr>
      <vt:lpstr>3Cs Character - Louis</vt:lpstr>
      <vt:lpstr>3Cs Character (bis)</vt:lpstr>
      <vt:lpstr>3Cs Contrôles</vt:lpstr>
      <vt:lpstr>3Cs Caméra</vt:lpstr>
      <vt:lpstr>GPIs</vt:lpstr>
      <vt:lpstr>Annexe 1.</vt:lpstr>
      <vt:lpstr>Annexe 2.</vt:lpstr>
      <vt:lpstr>Annexe 3.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Bachelier</cp:lastModifiedBy>
  <cp:revision>45</cp:revision>
  <dcterms:modified xsi:type="dcterms:W3CDTF">2026-10-28T14:41:55Z</dcterms:modified>
</cp:coreProperties>
</file>