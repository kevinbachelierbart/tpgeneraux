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0"/>
  </p:notesMasterIdLst>
  <p:sldIdLst>
    <p:sldId id="272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3" r:id="rId10"/>
    <p:sldId id="274" r:id="rId11"/>
    <p:sldId id="275" r:id="rId12"/>
    <p:sldId id="264" r:id="rId13"/>
    <p:sldId id="265" r:id="rId14"/>
    <p:sldId id="266" r:id="rId15"/>
    <p:sldId id="276" r:id="rId16"/>
    <p:sldId id="267" r:id="rId17"/>
    <p:sldId id="268" r:id="rId18"/>
    <p:sldId id="281" r:id="rId19"/>
    <p:sldId id="278" r:id="rId20"/>
    <p:sldId id="282" r:id="rId21"/>
    <p:sldId id="279" r:id="rId22"/>
    <p:sldId id="283" r:id="rId23"/>
    <p:sldId id="280" r:id="rId24"/>
    <p:sldId id="285" r:id="rId25"/>
    <p:sldId id="284" r:id="rId26"/>
    <p:sldId id="269" r:id="rId27"/>
    <p:sldId id="270" r:id="rId28"/>
    <p:sldId id="271" r:id="rId29"/>
  </p:sldIdLst>
  <p:sldSz cx="9144000" cy="5143500" type="screen16x9"/>
  <p:notesSz cx="6858000" cy="9144000"/>
  <p:embeddedFontLst>
    <p:embeddedFont>
      <p:font typeface="Economica" panose="020B0604020202020204" charset="0"/>
      <p:regular r:id="rId31"/>
      <p:bold r:id="rId32"/>
      <p:italic r:id="rId33"/>
      <p:boldItalic r:id="rId34"/>
    </p:embeddedFont>
    <p:embeddedFont>
      <p:font typeface="Open Sans" panose="020B0606030504020204" pitchFamily="34" charset="0"/>
      <p:regular r:id="rId35"/>
      <p:bold r:id="rId36"/>
      <p:italic r:id="rId37"/>
      <p:boldItalic r:id="rId38"/>
    </p:embeddedFont>
    <p:embeddedFont>
      <p:font typeface="OpineHeavy" pitchFamily="2" charset="0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0" roundtripDataSignature="AMtx7mjvIUtGSNpVopzYnf23dxEsE/fdM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A8EF4"/>
    <a:srgbClr val="0A59B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E7111E6-7E48-4233-AF02-AB37C635197C}">
  <a:tblStyle styleId="{5E7111E6-7E48-4233-AF02-AB37C635197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6" autoAdjust="0"/>
    <p:restoredTop sz="94660"/>
  </p:normalViewPr>
  <p:slideViewPr>
    <p:cSldViewPr snapToGrid="0">
      <p:cViewPr varScale="1">
        <p:scale>
          <a:sx n="178" d="100"/>
          <a:sy n="178" d="100"/>
        </p:scale>
        <p:origin x="162" y="50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9.fntdata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0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" name="Google Shape;7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6" name="Google Shape;96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07295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4862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3813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1" name="Google Shape;12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7582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43109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935363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57713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2205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283019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06321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30621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" name="Google Shape;14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66567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9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9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0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2" name="Google Shape;22;p20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23" name="Google Shape;23;p20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21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2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3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4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5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3" name="Google Shape;43;p25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25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5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6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27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27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27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7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>
            <a:extLst>
              <a:ext uri="{FF2B5EF4-FFF2-40B4-BE49-F238E27FC236}">
                <a16:creationId xmlns:a16="http://schemas.microsoft.com/office/drawing/2014/main" id="{F757E9E7-981C-2623-5E7B-541BE431DE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2819"/>
          <a:stretch/>
        </p:blipFill>
        <p:spPr>
          <a:xfrm>
            <a:off x="1657350" y="628650"/>
            <a:ext cx="5829300" cy="3388008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32F1095-5711-1DFB-476E-041FA2F15B87}"/>
              </a:ext>
            </a:extLst>
          </p:cNvPr>
          <p:cNvSpPr txBox="1"/>
          <p:nvPr/>
        </p:nvSpPr>
        <p:spPr>
          <a:xfrm>
            <a:off x="2257723" y="4026233"/>
            <a:ext cx="46285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dirty="0">
                <a:solidFill>
                  <a:schemeClr val="bg1"/>
                </a:solidFill>
                <a:latin typeface="OpineHeavy" pitchFamily="2" charset="0"/>
              </a:rPr>
              <a:t>SINTA ZARANIE</a:t>
            </a:r>
          </a:p>
        </p:txBody>
      </p:sp>
    </p:spTree>
    <p:extLst>
      <p:ext uri="{BB962C8B-B14F-4D97-AF65-F5344CB8AC3E}">
        <p14:creationId xmlns:p14="http://schemas.microsoft.com/office/powerpoint/2010/main" val="3931371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Inspirations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9" name="Google Shape;69;p2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5470986" cy="17047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indent="0">
              <a:buNone/>
            </a:pPr>
            <a:r>
              <a:rPr lang="fr-FR" sz="1200" b="1" dirty="0">
                <a:solidFill>
                  <a:schemeClr val="bg1"/>
                </a:solidFill>
              </a:rPr>
              <a:t>Saint-Nazaire</a:t>
            </a:r>
            <a:r>
              <a:rPr lang="fr-FR" sz="1200" dirty="0">
                <a:solidFill>
                  <a:schemeClr val="bg1"/>
                </a:solidFill>
              </a:rPr>
              <a:t> est ma ville de naissance. Il y a un pont long de presque 4kms qui mène à Saint-Brévin. Un jour, je me suis demandé si des gens jetaient des objets depuis le sommet. Ce serait intéressant d’aller retrouver ces objets en plongée. </a:t>
            </a:r>
          </a:p>
          <a:p>
            <a:pPr marL="114300" indent="0">
              <a:buNone/>
            </a:pPr>
            <a:r>
              <a:rPr lang="fr-FR" sz="1200" dirty="0">
                <a:solidFill>
                  <a:schemeClr val="bg1"/>
                </a:solidFill>
              </a:rPr>
              <a:t>Imaginez </a:t>
            </a:r>
            <a:r>
              <a:rPr lang="fr-FR" sz="1200" i="1" dirty="0">
                <a:solidFill>
                  <a:schemeClr val="bg1"/>
                </a:solidFill>
              </a:rPr>
              <a:t>Dave the </a:t>
            </a:r>
            <a:r>
              <a:rPr lang="fr-FR" sz="1200" i="1" dirty="0" err="1">
                <a:solidFill>
                  <a:schemeClr val="bg1"/>
                </a:solidFill>
              </a:rPr>
              <a:t>Diver</a:t>
            </a:r>
            <a:r>
              <a:rPr lang="fr-FR" sz="1200" i="1" dirty="0">
                <a:solidFill>
                  <a:schemeClr val="bg1"/>
                </a:solidFill>
              </a:rPr>
              <a:t> </a:t>
            </a:r>
            <a:r>
              <a:rPr lang="fr-FR" sz="1200" dirty="0">
                <a:solidFill>
                  <a:schemeClr val="bg1"/>
                </a:solidFill>
              </a:rPr>
              <a:t>qui part retrouver ces trésors. Mais pas pour l’histoire, pas pour la curiosité. Pour la richesse.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833428B-16B8-46D8-2769-F9C5CA9D4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700" y="3187333"/>
            <a:ext cx="2276838" cy="1278603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4638ECB-A060-A0CF-34D7-4160C8AB70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3229" y="2929952"/>
            <a:ext cx="3323726" cy="197664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17D76A94-9DFA-539F-ED8F-73DE698B8C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1646" y="3006052"/>
            <a:ext cx="2920335" cy="1641167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E0A76A37-D6BB-B318-D20E-03FF99FA4F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3107" y="589573"/>
            <a:ext cx="3126327" cy="1758024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Elevator Pitch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5" name="Google Shape;75;p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GB" dirty="0">
              <a:solidFill>
                <a:schemeClr val="bg1"/>
              </a:solidFill>
            </a:endParaRPr>
          </a:p>
          <a:p>
            <a:pPr marL="596900" lvl="1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GB" sz="3600" b="1" dirty="0">
                <a:solidFill>
                  <a:schemeClr val="bg1"/>
                </a:solidFill>
              </a:rPr>
              <a:t>Sinta </a:t>
            </a:r>
            <a:r>
              <a:rPr lang="en-GB" sz="3600" b="1" dirty="0" err="1">
                <a:solidFill>
                  <a:schemeClr val="bg1"/>
                </a:solidFill>
              </a:rPr>
              <a:t>Zaranie</a:t>
            </a:r>
            <a:r>
              <a:rPr lang="en-GB" sz="3600" dirty="0">
                <a:solidFill>
                  <a:schemeClr val="bg1"/>
                </a:solidFill>
              </a:rPr>
              <a:t>, </a:t>
            </a:r>
            <a:r>
              <a:rPr lang="en-GB" sz="3600" dirty="0" err="1">
                <a:solidFill>
                  <a:schemeClr val="bg1"/>
                </a:solidFill>
              </a:rPr>
              <a:t>c’est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i="1" dirty="0">
                <a:solidFill>
                  <a:schemeClr val="bg1"/>
                </a:solidFill>
              </a:rPr>
              <a:t>Dave The Diver </a:t>
            </a:r>
            <a:r>
              <a:rPr lang="en-GB" sz="3600" dirty="0" err="1">
                <a:solidFill>
                  <a:schemeClr val="bg1"/>
                </a:solidFill>
              </a:rPr>
              <a:t>mais</a:t>
            </a:r>
            <a:r>
              <a:rPr lang="en-GB" sz="3600" dirty="0">
                <a:solidFill>
                  <a:schemeClr val="bg1"/>
                </a:solidFill>
              </a:rPr>
              <a:t> </a:t>
            </a:r>
            <a:r>
              <a:rPr lang="en-GB" sz="3600" dirty="0" err="1">
                <a:solidFill>
                  <a:schemeClr val="bg1"/>
                </a:solidFill>
              </a:rPr>
              <a:t>cupide</a:t>
            </a:r>
            <a:r>
              <a:rPr lang="en-GB" sz="3600" dirty="0">
                <a:solidFill>
                  <a:schemeClr val="bg1"/>
                </a:solidFill>
              </a:rPr>
              <a:t> et sans </a:t>
            </a:r>
            <a:r>
              <a:rPr lang="en-GB" sz="3600" dirty="0" err="1">
                <a:solidFill>
                  <a:schemeClr val="bg1"/>
                </a:solidFill>
              </a:rPr>
              <a:t>scrupule</a:t>
            </a:r>
            <a:r>
              <a:rPr lang="en-GB" sz="3600" dirty="0">
                <a:solidFill>
                  <a:schemeClr val="bg1"/>
                </a:solidFill>
              </a:rPr>
              <a:t> !</a:t>
            </a:r>
            <a:endParaRPr lang="fr-FR" sz="3600" dirty="0">
              <a:solidFill>
                <a:schemeClr val="bg1"/>
              </a:solidFill>
            </a:endParaRPr>
          </a:p>
          <a:p>
            <a:pPr marL="9144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Concept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1" name="Google Shape;81;p4"/>
          <p:cNvSpPr txBox="1">
            <a:spLocks noGrp="1"/>
          </p:cNvSpPr>
          <p:nvPr>
            <p:ph type="body" idx="1"/>
          </p:nvPr>
        </p:nvSpPr>
        <p:spPr>
          <a:xfrm>
            <a:off x="311700" y="1147224"/>
            <a:ext cx="8520600" cy="35320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SzPts val="1400"/>
              <a:buNone/>
            </a:pPr>
            <a:r>
              <a:rPr lang="fr-FR" sz="1600" dirty="0">
                <a:solidFill>
                  <a:schemeClr val="bg1"/>
                </a:solidFill>
              </a:rPr>
              <a:t>Le joueur incarne un plongée avide d’argent. Il a remarqué que beaucoup de gens jetaient des choses depuis le pont. Mais personne n’ose aller les chercher car l’eau de la Loire est bien trop noire.</a:t>
            </a:r>
            <a:endParaRPr sz="1600"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Le personnage </a:t>
            </a:r>
            <a:r>
              <a:rPr lang="fr-FR" u="sng" dirty="0">
                <a:solidFill>
                  <a:schemeClr val="bg1"/>
                </a:solidFill>
              </a:rPr>
              <a:t>plonge</a:t>
            </a:r>
            <a:r>
              <a:rPr lang="fr-FR" dirty="0">
                <a:solidFill>
                  <a:schemeClr val="bg1"/>
                </a:solidFill>
              </a:rPr>
              <a:t> chaque jour afin de </a:t>
            </a:r>
            <a:r>
              <a:rPr lang="fr-FR" u="sng" dirty="0">
                <a:solidFill>
                  <a:schemeClr val="bg1"/>
                </a:solidFill>
              </a:rPr>
              <a:t>ramasser</a:t>
            </a:r>
            <a:r>
              <a:rPr lang="fr-FR" dirty="0">
                <a:solidFill>
                  <a:schemeClr val="bg1"/>
                </a:solidFill>
              </a:rPr>
              <a:t> les trésors abandonnés. Mais la noirceur l’empêche d’aller dans les profondeurs. Chaque élément ramassé sous l’eau peut être </a:t>
            </a:r>
            <a:r>
              <a:rPr lang="fr-FR" u="sng" dirty="0">
                <a:solidFill>
                  <a:schemeClr val="bg1"/>
                </a:solidFill>
              </a:rPr>
              <a:t>revendu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lvl="1">
              <a:spcBef>
                <a:spcPts val="0"/>
              </a:spcBef>
              <a:buChar char="■"/>
            </a:pPr>
            <a:r>
              <a:rPr lang="en-GB" dirty="0">
                <a:solidFill>
                  <a:schemeClr val="bg1"/>
                </a:solidFill>
              </a:rPr>
              <a:t>Le </a:t>
            </a:r>
            <a:r>
              <a:rPr lang="en-GB" dirty="0" err="1">
                <a:solidFill>
                  <a:schemeClr val="bg1"/>
                </a:solidFill>
              </a:rPr>
              <a:t>joueur</a:t>
            </a:r>
            <a:r>
              <a:rPr lang="en-GB" dirty="0">
                <a:solidFill>
                  <a:schemeClr val="bg1"/>
                </a:solidFill>
              </a:rPr>
              <a:t> doit </a:t>
            </a:r>
            <a:r>
              <a:rPr lang="en-GB" dirty="0" err="1">
                <a:solidFill>
                  <a:schemeClr val="bg1"/>
                </a:solidFill>
              </a:rPr>
              <a:t>réussir</a:t>
            </a:r>
            <a:r>
              <a:rPr lang="en-GB" dirty="0">
                <a:solidFill>
                  <a:schemeClr val="bg1"/>
                </a:solidFill>
              </a:rPr>
              <a:t> à </a:t>
            </a:r>
            <a:r>
              <a:rPr lang="fr-FR" u="sng" dirty="0">
                <a:solidFill>
                  <a:schemeClr val="bg1"/>
                </a:solidFill>
              </a:rPr>
              <a:t>atteindre le fond </a:t>
            </a:r>
            <a:r>
              <a:rPr lang="fr-FR" dirty="0">
                <a:solidFill>
                  <a:schemeClr val="bg1"/>
                </a:solidFill>
              </a:rPr>
              <a:t>de la Loire pour y trouver les trésors rares. Il doit </a:t>
            </a:r>
            <a:r>
              <a:rPr lang="fr-FR" u="sng" dirty="0">
                <a:solidFill>
                  <a:schemeClr val="bg1"/>
                </a:solidFill>
              </a:rPr>
              <a:t>améliorer son équipement </a:t>
            </a:r>
            <a:r>
              <a:rPr lang="fr-FR" dirty="0">
                <a:solidFill>
                  <a:schemeClr val="bg1"/>
                </a:solidFill>
              </a:rPr>
              <a:t>via ses ventes pour progresser. </a:t>
            </a:r>
          </a:p>
          <a:p>
            <a:pPr lvl="1">
              <a:spcBef>
                <a:spcPts val="0"/>
              </a:spcBef>
              <a:buChar char="■"/>
            </a:pPr>
            <a:r>
              <a:rPr lang="fr-FR" dirty="0">
                <a:solidFill>
                  <a:schemeClr val="bg1"/>
                </a:solidFill>
              </a:rPr>
              <a:t>La drague passe chaque jour sous le pont, élargissant la fosse des butins. Mais son passage aspire des trésors possibles. Le joueur doit </a:t>
            </a:r>
            <a:r>
              <a:rPr lang="fr-FR" u="sng" dirty="0">
                <a:solidFill>
                  <a:schemeClr val="bg1"/>
                </a:solidFill>
              </a:rPr>
              <a:t>trouver la bonne période dans la journée </a:t>
            </a:r>
            <a:r>
              <a:rPr lang="fr-FR" dirty="0">
                <a:solidFill>
                  <a:schemeClr val="bg1"/>
                </a:solidFill>
              </a:rPr>
              <a:t>pour plonger 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Information </a:t>
            </a:r>
            <a:r>
              <a:rPr lang="en-GB" dirty="0" err="1">
                <a:solidFill>
                  <a:schemeClr val="bg1"/>
                </a:solidFill>
              </a:rPr>
              <a:t>générale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Point de </a:t>
            </a:r>
            <a:r>
              <a:rPr lang="en-GB" dirty="0" err="1">
                <a:solidFill>
                  <a:schemeClr val="bg1"/>
                </a:solidFill>
              </a:rPr>
              <a:t>vue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 err="1">
                <a:solidFill>
                  <a:schemeClr val="bg1"/>
                </a:solidFill>
              </a:rPr>
              <a:t>Side</a:t>
            </a:r>
            <a:r>
              <a:rPr lang="fr-FR" dirty="0">
                <a:solidFill>
                  <a:schemeClr val="bg1"/>
                </a:solidFill>
              </a:rPr>
              <a:t>-scroller 2D en pixel art. 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solidFill>
                  <a:schemeClr val="bg1"/>
                </a:solidFill>
              </a:rPr>
              <a:t>Genre de jeu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dirty="0">
                <a:solidFill>
                  <a:schemeClr val="bg1"/>
                </a:solidFill>
              </a:rPr>
              <a:t>Casual RPG-like avec </a:t>
            </a:r>
            <a:r>
              <a:rPr lang="fr-FR" dirty="0" err="1">
                <a:solidFill>
                  <a:schemeClr val="bg1"/>
                </a:solidFill>
              </a:rPr>
              <a:t>incrementals</a:t>
            </a:r>
            <a:r>
              <a:rPr lang="fr-FR" dirty="0">
                <a:solidFill>
                  <a:schemeClr val="bg1"/>
                </a:solidFill>
              </a:rPr>
              <a:t> </a:t>
            </a:r>
            <a:r>
              <a:rPr lang="fr-FR" dirty="0" err="1">
                <a:solidFill>
                  <a:schemeClr val="bg1"/>
                </a:solidFill>
              </a:rPr>
              <a:t>elements</a:t>
            </a:r>
            <a:r>
              <a:rPr lang="fr-FR" dirty="0">
                <a:solidFill>
                  <a:schemeClr val="bg1"/>
                </a:solidFill>
              </a:rPr>
              <a:t>.</a:t>
            </a:r>
            <a:endParaRPr dirty="0">
              <a:solidFill>
                <a:schemeClr val="bg1"/>
              </a:solidFill>
            </a:endParaRP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>
                <a:solidFill>
                  <a:schemeClr val="bg1"/>
                </a:solidFill>
              </a:rPr>
              <a:t>Plateforme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PC et consoles</a:t>
            </a: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2050" name="Picture 2" descr="Capture d'écran nº 0">
            <a:extLst>
              <a:ext uri="{FF2B5EF4-FFF2-40B4-BE49-F238E27FC236}">
                <a16:creationId xmlns:a16="http://schemas.microsoft.com/office/drawing/2014/main" id="{EDDC8010-A900-2BB0-3C00-2E13939A58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550" y="564275"/>
            <a:ext cx="3676898" cy="206825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Creative Values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3" name="Google Shape;93;p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Casual : mécaniques et systèmes simples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Progressif : les actions avancent directement la progression du jeu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fr-FR" dirty="0">
                <a:solidFill>
                  <a:schemeClr val="bg1"/>
                </a:solidFill>
              </a:rPr>
              <a:t>Moralisateur : histoire sans accro avec retournement de situation brutal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7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Core Game Loop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99" name="Google Shape;99;p7"/>
          <p:cNvSpPr/>
          <p:nvPr/>
        </p:nvSpPr>
        <p:spPr>
          <a:xfrm>
            <a:off x="3095127" y="1753975"/>
            <a:ext cx="1161300" cy="989100"/>
          </a:xfrm>
          <a:prstGeom prst="ellipse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rgbClr val="000000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rgbClr val="000000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100" name="Google Shape;100;p7"/>
          <p:cNvSpPr/>
          <p:nvPr/>
        </p:nvSpPr>
        <p:spPr>
          <a:xfrm>
            <a:off x="4218991" y="2982059"/>
            <a:ext cx="1161300" cy="989100"/>
          </a:xfrm>
          <a:prstGeom prst="ellipse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Acquérir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des items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7"/>
          <p:cNvSpPr/>
          <p:nvPr/>
        </p:nvSpPr>
        <p:spPr>
          <a:xfrm>
            <a:off x="1969975" y="2982059"/>
            <a:ext cx="1161300" cy="989100"/>
          </a:xfrm>
          <a:prstGeom prst="ellipse">
            <a:avLst/>
          </a:prstGeom>
          <a:solidFill>
            <a:srgbClr val="F4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Vendre</a:t>
            </a:r>
            <a:r>
              <a:rPr lang="en-GB" sz="1400" b="0" i="0" u="none" strike="noStrike" cap="none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 / Upgrade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7"/>
          <p:cNvSpPr/>
          <p:nvPr/>
        </p:nvSpPr>
        <p:spPr>
          <a:xfrm rot="-3086972">
            <a:off x="2714326" y="2643323"/>
            <a:ext cx="417360" cy="252674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7"/>
          <p:cNvSpPr/>
          <p:nvPr/>
        </p:nvSpPr>
        <p:spPr>
          <a:xfrm rot="2706987">
            <a:off x="4189332" y="2676301"/>
            <a:ext cx="417477" cy="25265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7"/>
          <p:cNvSpPr/>
          <p:nvPr/>
        </p:nvSpPr>
        <p:spPr>
          <a:xfrm rot="-10668795">
            <a:off x="3389382" y="3515605"/>
            <a:ext cx="416703" cy="253082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000000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7"/>
          <p:cNvSpPr txBox="1"/>
          <p:nvPr/>
        </p:nvSpPr>
        <p:spPr>
          <a:xfrm>
            <a:off x="5550550" y="1287725"/>
            <a:ext cx="3281750" cy="3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Planifier l’heure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Plonger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Acquérir des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sans valeur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avec valeur</a:t>
            </a: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CA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 des items sur l’histoire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/ Upgrade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Vendre les items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Upgrader l’équipement de plongée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Economica"/>
              <a:buChar char="○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Acheter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des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informations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sur le passage de la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drague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planification (Interface)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r>
              <a:rPr lang="fr-FR" dirty="0">
                <a:solidFill>
                  <a:schemeClr val="bg1"/>
                </a:solidFill>
              </a:rPr>
              <a:t>Chaque matin/début de journée, le joueur doit planifier son heure de plongée en fonction de la drague qui passe dans le chenal. Selon la plage horaire choisie : 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vient de passer : Fosse plus large (navigation plus facile) mais moins de trésors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12h et moins : Fosse plus étroite et fréquence des trésors normale</a:t>
            </a:r>
          </a:p>
          <a:p>
            <a:pPr lvl="2" indent="-342900">
              <a:spcBef>
                <a:spcPts val="0"/>
              </a:spcBef>
              <a:buSzPts val="1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bg1"/>
                </a:solidFill>
              </a:rPr>
              <a:t>Drague est passé il y a plus de 12h : Fosse dangereuse et beaucoup de </a:t>
            </a:r>
            <a:r>
              <a:rPr lang="fr-FR" dirty="0" err="1">
                <a:solidFill>
                  <a:schemeClr val="bg1"/>
                </a:solidFill>
              </a:rPr>
              <a:t>loots</a:t>
            </a:r>
            <a:r>
              <a:rPr lang="fr-FR" dirty="0">
                <a:solidFill>
                  <a:schemeClr val="bg1"/>
                </a:solidFill>
              </a:rPr>
              <a:t>. </a:t>
            </a:r>
          </a:p>
          <a:p>
            <a:pPr lvl="1" indent="-342900">
              <a:spcBef>
                <a:spcPts val="0"/>
              </a:spcBef>
              <a:buSzPts val="1800"/>
              <a:buChar char="●"/>
            </a:pP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Analyser</a:t>
            </a:r>
            <a:r>
              <a:rPr lang="fr-FR" dirty="0">
                <a:solidFill>
                  <a:schemeClr val="bg1"/>
                </a:solidFill>
              </a:rPr>
              <a:t> les données de la veille, voire l’avant-veille selon les upgrades achetées.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 err="1">
                <a:solidFill>
                  <a:schemeClr val="bg1"/>
                </a:solidFill>
              </a:rPr>
              <a:t>Sélectionner</a:t>
            </a:r>
            <a:r>
              <a:rPr lang="en-GB" dirty="0">
                <a:solidFill>
                  <a:schemeClr val="bg1"/>
                </a:solidFill>
              </a:rPr>
              <a:t> la plage </a:t>
            </a:r>
            <a:r>
              <a:rPr lang="en-GB" dirty="0" err="1">
                <a:solidFill>
                  <a:schemeClr val="bg1"/>
                </a:solidFill>
              </a:rPr>
              <a:t>horaire</a:t>
            </a:r>
            <a:r>
              <a:rPr lang="en-GB" dirty="0">
                <a:solidFill>
                  <a:schemeClr val="bg1"/>
                </a:solidFill>
              </a:rPr>
              <a:t> de </a:t>
            </a:r>
            <a:r>
              <a:rPr lang="en-GB" dirty="0" err="1">
                <a:solidFill>
                  <a:schemeClr val="bg1"/>
                </a:solidFill>
              </a:rPr>
              <a:t>plongée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navigation de plongée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Se déplacer : </a:t>
            </a:r>
            <a:r>
              <a:rPr lang="fr-FR" dirty="0">
                <a:solidFill>
                  <a:schemeClr val="bg1"/>
                </a:solidFill>
              </a:rPr>
              <a:t>dans les 2 axes. Déplacement illimité. Seule la jauge d’O² influence la durée de déplacement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Dash</a:t>
            </a:r>
            <a:r>
              <a:rPr lang="fr-FR" dirty="0">
                <a:solidFill>
                  <a:schemeClr val="bg1"/>
                </a:solidFill>
              </a:rPr>
              <a:t> : Permet de </a:t>
            </a:r>
            <a:r>
              <a:rPr lang="fr-FR" dirty="0" err="1">
                <a:solidFill>
                  <a:schemeClr val="bg1"/>
                </a:solidFill>
              </a:rPr>
              <a:t>dasher</a:t>
            </a:r>
            <a:r>
              <a:rPr lang="fr-FR" dirty="0">
                <a:solidFill>
                  <a:schemeClr val="bg1"/>
                </a:solidFill>
              </a:rPr>
              <a:t>. </a:t>
            </a:r>
            <a:r>
              <a:rPr lang="fr-FR" dirty="0" err="1">
                <a:solidFill>
                  <a:schemeClr val="bg1"/>
                </a:solidFill>
              </a:rPr>
              <a:t>Cooldown</a:t>
            </a:r>
            <a:r>
              <a:rPr lang="fr-FR" dirty="0">
                <a:solidFill>
                  <a:schemeClr val="bg1"/>
                </a:solidFill>
              </a:rPr>
              <a:t> de [x] secondes et perte d’air de [x].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>
                <a:solidFill>
                  <a:schemeClr val="bg1"/>
                </a:solidFill>
              </a:rPr>
              <a:t>Pointer la lumière </a:t>
            </a:r>
            <a:r>
              <a:rPr lang="en-GB" dirty="0">
                <a:solidFill>
                  <a:schemeClr val="bg1"/>
                </a:solidFill>
              </a:rPr>
              <a:t>: </a:t>
            </a:r>
            <a:r>
              <a:rPr lang="en-GB" dirty="0" err="1">
                <a:solidFill>
                  <a:schemeClr val="bg1"/>
                </a:solidFill>
              </a:rPr>
              <a:t>permet</a:t>
            </a:r>
            <a:r>
              <a:rPr lang="en-GB" dirty="0">
                <a:solidFill>
                  <a:schemeClr val="bg1"/>
                </a:solidFill>
              </a:rPr>
              <a:t> de se </a:t>
            </a:r>
            <a:r>
              <a:rPr lang="en-GB" dirty="0" err="1">
                <a:solidFill>
                  <a:schemeClr val="bg1"/>
                </a:solidFill>
              </a:rPr>
              <a:t>focaliser</a:t>
            </a:r>
            <a:r>
              <a:rPr lang="en-GB" dirty="0">
                <a:solidFill>
                  <a:schemeClr val="bg1"/>
                </a:solidFill>
              </a:rPr>
              <a:t> sur </a:t>
            </a:r>
            <a:r>
              <a:rPr lang="en-GB" dirty="0" err="1">
                <a:solidFill>
                  <a:schemeClr val="bg1"/>
                </a:solidFill>
              </a:rPr>
              <a:t>une</a:t>
            </a:r>
            <a:r>
              <a:rPr lang="en-GB" dirty="0">
                <a:solidFill>
                  <a:schemeClr val="bg1"/>
                </a:solidFill>
              </a:rPr>
              <a:t> zone precise </a:t>
            </a:r>
            <a:r>
              <a:rPr lang="en-GB" dirty="0" err="1">
                <a:solidFill>
                  <a:schemeClr val="bg1"/>
                </a:solidFill>
              </a:rPr>
              <a:t>durant</a:t>
            </a:r>
            <a:r>
              <a:rPr lang="en-GB" dirty="0">
                <a:solidFill>
                  <a:schemeClr val="bg1"/>
                </a:solidFill>
              </a:rPr>
              <a:t> la </a:t>
            </a:r>
            <a:r>
              <a:rPr lang="en-GB" dirty="0" err="1">
                <a:solidFill>
                  <a:schemeClr val="bg1"/>
                </a:solidFill>
              </a:rPr>
              <a:t>nage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6448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de ramassage du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b="1"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Simple </a:t>
            </a: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dirty="0">
                <a:solidFill>
                  <a:schemeClr val="bg1"/>
                </a:solidFill>
              </a:rPr>
              <a:t>: un input qui permet de ramasser du </a:t>
            </a:r>
            <a:r>
              <a:rPr lang="fr-FR" dirty="0" err="1">
                <a:solidFill>
                  <a:schemeClr val="bg1"/>
                </a:solidFill>
              </a:rPr>
              <a:t>loot</a:t>
            </a:r>
            <a:r>
              <a:rPr lang="fr-FR" dirty="0">
                <a:solidFill>
                  <a:schemeClr val="bg1"/>
                </a:solidFill>
              </a:rPr>
              <a:t> (possible pour les petits items)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 err="1">
                <a:solidFill>
                  <a:schemeClr val="bg1"/>
                </a:solidFill>
              </a:rPr>
              <a:t>Interact</a:t>
            </a:r>
            <a:r>
              <a:rPr lang="fr-FR" b="1" dirty="0">
                <a:solidFill>
                  <a:schemeClr val="bg1"/>
                </a:solidFill>
              </a:rPr>
              <a:t> spam </a:t>
            </a:r>
            <a:r>
              <a:rPr lang="fr-FR" dirty="0">
                <a:solidFill>
                  <a:schemeClr val="bg1"/>
                </a:solidFill>
              </a:rPr>
              <a:t>: demande d’appuyer x fois sur le bouton dans le délai requis pour sortir un gros item de la vase</a:t>
            </a: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Hold</a:t>
            </a:r>
            <a:r>
              <a:rPr lang="fr-FR" dirty="0">
                <a:solidFill>
                  <a:schemeClr val="bg1"/>
                </a:solidFill>
              </a:rPr>
              <a:t> : permet de gratter la vase pour voir si un objet est dedans. 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13013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Main features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1" name="Google Shape;111;p8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b="1" dirty="0">
                <a:solidFill>
                  <a:schemeClr val="bg1"/>
                </a:solidFill>
              </a:rPr>
              <a:t>Système d’</a:t>
            </a:r>
            <a:r>
              <a:rPr lang="fr-FR" b="1" dirty="0" err="1">
                <a:solidFill>
                  <a:schemeClr val="bg1"/>
                </a:solidFill>
              </a:rPr>
              <a:t>uprade</a:t>
            </a:r>
            <a:r>
              <a:rPr lang="fr-FR" b="1" dirty="0">
                <a:solidFill>
                  <a:schemeClr val="bg1"/>
                </a:solidFill>
              </a:rPr>
              <a:t> (Interface)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solidFill>
                  <a:schemeClr val="bg1"/>
                </a:solidFill>
              </a:rPr>
              <a:t>Le système d’upgrade permet d’améliorer les différentes mécaniques du jeu (</a:t>
            </a:r>
            <a:r>
              <a:rPr lang="fr-FR" dirty="0" err="1">
                <a:solidFill>
                  <a:schemeClr val="bg1"/>
                </a:solidFill>
              </a:rPr>
              <a:t>dash</a:t>
            </a:r>
            <a:r>
              <a:rPr lang="fr-FR" dirty="0">
                <a:solidFill>
                  <a:schemeClr val="bg1"/>
                </a:solidFill>
              </a:rPr>
              <a:t>, conteneur d’O², lumière (fanal),…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fr-FR" b="1" dirty="0">
                <a:solidFill>
                  <a:schemeClr val="bg1"/>
                </a:solidFill>
              </a:rPr>
              <a:t>Hold</a:t>
            </a:r>
            <a:r>
              <a:rPr lang="fr-FR" dirty="0">
                <a:solidFill>
                  <a:schemeClr val="bg1"/>
                </a:solidFill>
              </a:rPr>
              <a:t> : Valider l’upgrade d’un item</a:t>
            </a:r>
            <a:endParaRPr dirty="0">
              <a:solidFill>
                <a:schemeClr val="bg1"/>
              </a:solidFill>
            </a:endParaRPr>
          </a:p>
          <a:p>
            <a: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>
                <a:solidFill>
                  <a:schemeClr val="bg1"/>
                </a:solidFill>
              </a:rPr>
              <a:t>Idée possible : </a:t>
            </a:r>
            <a:r>
              <a:rPr lang="en-GB" dirty="0" err="1">
                <a:solidFill>
                  <a:schemeClr val="bg1"/>
                </a:solidFill>
              </a:rPr>
              <a:t>scanneur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d’ID</a:t>
            </a:r>
            <a:r>
              <a:rPr lang="en-GB" dirty="0">
                <a:solidFill>
                  <a:schemeClr val="bg1"/>
                </a:solidFill>
              </a:rPr>
              <a:t> : il </a:t>
            </a:r>
            <a:r>
              <a:rPr lang="en-GB" dirty="0" err="1">
                <a:solidFill>
                  <a:schemeClr val="bg1"/>
                </a:solidFill>
              </a:rPr>
              <a:t>serait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peut-être</a:t>
            </a:r>
            <a:r>
              <a:rPr lang="en-GB" dirty="0">
                <a:solidFill>
                  <a:schemeClr val="bg1"/>
                </a:solidFill>
              </a:rPr>
              <a:t> possible de scanner les IDs </a:t>
            </a:r>
            <a:r>
              <a:rPr lang="en-GB" dirty="0" err="1">
                <a:solidFill>
                  <a:schemeClr val="bg1"/>
                </a:solidFill>
              </a:rPr>
              <a:t>trouvées</a:t>
            </a:r>
            <a:r>
              <a:rPr lang="en-GB" dirty="0">
                <a:solidFill>
                  <a:schemeClr val="bg1"/>
                </a:solidFill>
              </a:rPr>
              <a:t> pour </a:t>
            </a:r>
            <a:r>
              <a:rPr lang="en-GB" dirty="0" err="1">
                <a:solidFill>
                  <a:schemeClr val="bg1"/>
                </a:solidFill>
              </a:rPr>
              <a:t>connaître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une</a:t>
            </a:r>
            <a:r>
              <a:rPr lang="en-GB" dirty="0">
                <a:solidFill>
                  <a:schemeClr val="bg1"/>
                </a:solidFill>
              </a:rPr>
              <a:t> </a:t>
            </a:r>
            <a:r>
              <a:rPr lang="en-GB" dirty="0" err="1">
                <a:solidFill>
                  <a:schemeClr val="bg1"/>
                </a:solidFill>
              </a:rPr>
              <a:t>adresse</a:t>
            </a:r>
            <a:r>
              <a:rPr lang="en-GB" dirty="0">
                <a:solidFill>
                  <a:schemeClr val="bg1"/>
                </a:solidFill>
              </a:rPr>
              <a:t>, un nom précis,… </a:t>
            </a:r>
            <a:r>
              <a:rPr lang="en-GB" dirty="0" err="1">
                <a:solidFill>
                  <a:schemeClr val="bg1"/>
                </a:solidFill>
              </a:rPr>
              <a:t>Mécanique</a:t>
            </a:r>
            <a:r>
              <a:rPr lang="en-GB" dirty="0">
                <a:solidFill>
                  <a:schemeClr val="bg1"/>
                </a:solidFill>
              </a:rPr>
              <a:t> → </a:t>
            </a:r>
            <a:r>
              <a:rPr lang="en-GB" b="1" dirty="0" err="1">
                <a:solidFill>
                  <a:schemeClr val="bg1"/>
                </a:solidFill>
              </a:rPr>
              <a:t>rentrer</a:t>
            </a:r>
            <a:r>
              <a:rPr lang="en-GB" b="1" dirty="0">
                <a:solidFill>
                  <a:schemeClr val="bg1"/>
                </a:solidFill>
              </a:rPr>
              <a:t> la carte dans le </a:t>
            </a:r>
            <a:r>
              <a:rPr lang="en-GB" b="1" dirty="0" err="1">
                <a:solidFill>
                  <a:schemeClr val="bg1"/>
                </a:solidFill>
              </a:rPr>
              <a:t>lecteur</a:t>
            </a:r>
            <a:r>
              <a:rPr lang="en-GB" dirty="0">
                <a:solidFill>
                  <a:schemeClr val="bg1"/>
                </a:solidFill>
              </a:rPr>
              <a:t>, </a:t>
            </a:r>
            <a:r>
              <a:rPr lang="en-GB" dirty="0" err="1">
                <a:solidFill>
                  <a:schemeClr val="bg1"/>
                </a:solidFill>
              </a:rPr>
              <a:t>puis</a:t>
            </a:r>
            <a:r>
              <a:rPr lang="en-GB" dirty="0">
                <a:solidFill>
                  <a:schemeClr val="bg1"/>
                </a:solidFill>
              </a:rPr>
              <a:t> la </a:t>
            </a:r>
            <a:r>
              <a:rPr lang="en-GB" dirty="0" err="1">
                <a:solidFill>
                  <a:schemeClr val="bg1"/>
                </a:solidFill>
              </a:rPr>
              <a:t>ressortir</a:t>
            </a:r>
            <a:r>
              <a:rPr lang="en-GB" dirty="0">
                <a:solidFill>
                  <a:schemeClr val="bg1"/>
                </a:solidFill>
              </a:rPr>
              <a:t>. </a:t>
            </a:r>
            <a:endParaRPr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68275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9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Character - Louis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18" name="Google Shape;118;p9"/>
          <p:cNvSpPr txBox="1"/>
          <p:nvPr/>
        </p:nvSpPr>
        <p:spPr>
          <a:xfrm>
            <a:off x="2501450" y="1154500"/>
            <a:ext cx="65349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Mouvements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: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Nager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Dasher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Ramasser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un item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Abiletés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: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Concentrer la lumière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Retirer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un item 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coincé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dans la vase</a:t>
            </a:r>
            <a:endParaRPr lang="en-GB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52B8AE71-35E4-B0D3-A912-34027C9F7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40" y="1698522"/>
            <a:ext cx="1771897" cy="14670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Character (bis)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25" name="Google Shape;125;p10"/>
          <p:cNvSpPr txBox="1"/>
          <p:nvPr/>
        </p:nvSpPr>
        <p:spPr>
          <a:xfrm>
            <a:off x="2501450" y="1154500"/>
            <a:ext cx="6534900" cy="2985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Personnalité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Louis est cupide et vénal. Il n’a d’intérêt que pour l’argent. 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Tout ce qu’il ramasse a une valeur financière.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Taille (</a:t>
            </a:r>
            <a:r>
              <a:rPr lang="en-GB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métrique</a:t>
            </a:r>
            <a:r>
              <a:rPr lang="en-GB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)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3 </a:t>
            </a:r>
            <a:r>
              <a:rPr lang="fr-FR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units</a:t>
            </a: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 long et 1 </a:t>
            </a:r>
            <a:r>
              <a:rPr lang="fr-FR" sz="1400" b="0" i="0" u="none" strike="noStrike" cap="none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units</a:t>
            </a: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 de hauteur</a:t>
            </a: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2 x 1 unit lorsqu’il est en </a:t>
            </a:r>
            <a:r>
              <a:rPr lang="fr-FR" dirty="0" err="1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idle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Porte une bo</a:t>
            </a:r>
            <a:r>
              <a:rPr lang="fr-FR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mbonne d’oxygène. 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Economica"/>
              <a:buChar char="●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Economica"/>
                <a:ea typeface="Economica"/>
                <a:cs typeface="Economica"/>
                <a:sym typeface="Economica"/>
              </a:rPr>
              <a:t>Possède deux palmes et un tuba</a:t>
            </a: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chemeClr val="bg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45D6B6F9-36DE-6F6A-B6F0-43167DD21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640" y="1698522"/>
            <a:ext cx="1771897" cy="1467055"/>
          </a:xfrm>
          <a:prstGeom prst="rect">
            <a:avLst/>
          </a:prstGeom>
          <a:ln w="381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Contrôles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131" name="Google Shape;131;p11"/>
          <p:cNvGraphicFramePr/>
          <p:nvPr>
            <p:extLst>
              <p:ext uri="{D42A27DB-BD31-4B8C-83A1-F6EECF244321}">
                <p14:modId xmlns:p14="http://schemas.microsoft.com/office/powerpoint/2010/main" val="3113357270"/>
              </p:ext>
            </p:extLst>
          </p:nvPr>
        </p:nvGraphicFramePr>
        <p:xfrm>
          <a:off x="952500" y="1619250"/>
          <a:ext cx="7239000" cy="219441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191330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00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562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W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Monter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Changer la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sélection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vers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le haut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S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Descendre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/>
                        <a:t>Changer la sélection vers le bas</a:t>
                      </a:r>
                      <a:endParaRPr sz="1400" u="none" strike="noStrike" cap="none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A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Avancer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à gauche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Changer la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sélection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vers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la gauche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D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Avancer</a:t>
                      </a:r>
                      <a:r>
                        <a:rPr lang="en-GB" sz="1400" u="none" strike="noStrike" cap="none" dirty="0"/>
                        <a:t> à droite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/>
                        <a:t>Changer la </a:t>
                      </a:r>
                      <a:r>
                        <a:rPr lang="en-GB" sz="1400" u="none" strike="noStrike" cap="none" dirty="0" err="1"/>
                        <a:t>sélection</a:t>
                      </a:r>
                      <a:r>
                        <a:rPr lang="en-GB" sz="1400" u="none" strike="noStrike" cap="none" dirty="0"/>
                        <a:t> </a:t>
                      </a:r>
                      <a:r>
                        <a:rPr lang="en-GB" sz="1400" u="none" strike="noStrike" cap="none" dirty="0" err="1"/>
                        <a:t>vers</a:t>
                      </a:r>
                      <a:r>
                        <a:rPr lang="en-GB" sz="1400" u="none" strike="noStrike" cap="none" dirty="0"/>
                        <a:t> la droite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Contrôles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131" name="Google Shape;131;p11"/>
          <p:cNvGraphicFramePr/>
          <p:nvPr>
            <p:extLst>
              <p:ext uri="{D42A27DB-BD31-4B8C-83A1-F6EECF244321}">
                <p14:modId xmlns:p14="http://schemas.microsoft.com/office/powerpoint/2010/main" val="1543807880"/>
              </p:ext>
            </p:extLst>
          </p:nvPr>
        </p:nvGraphicFramePr>
        <p:xfrm>
          <a:off x="952500" y="1619250"/>
          <a:ext cx="7461003" cy="1584840"/>
        </p:xfrm>
        <a:graphic>
          <a:graphicData uri="http://schemas.openxmlformats.org/drawingml/2006/table">
            <a:tbl>
              <a:tblPr>
                <a:noFill/>
                <a:tableStyleId>{5E7111E6-7E48-4233-AF02-AB37C635197C}</a:tableStyleId>
              </a:tblPr>
              <a:tblGrid>
                <a:gridCol w="2219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69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94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rgbClr val="FFFFFF"/>
                          </a:solidFill>
                        </a:rPr>
                        <a:t>Contrôles</a:t>
                      </a:r>
                      <a:endParaRPr sz="1400" u="none" strike="noStrike" cap="none" dirty="0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In-Game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>
                          <a:solidFill>
                            <a:srgbClr val="FFFFFF"/>
                          </a:solidFill>
                        </a:rPr>
                        <a:t>Menus</a:t>
                      </a:r>
                      <a:endParaRPr sz="1400" u="none" strike="noStrike" cap="none">
                        <a:solidFill>
                          <a:srgbClr val="FFFFFF"/>
                        </a:solidFill>
                      </a:endParaRPr>
                    </a:p>
                  </a:txBody>
                  <a:tcPr marL="91425" marR="91425" marT="91425" marB="91425">
                    <a:solidFill>
                      <a:srgbClr val="1C458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E / E(hold)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Ramasser</a:t>
                      </a: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 / </a:t>
                      </a:r>
                      <a:r>
                        <a:rPr lang="en-GB" sz="1400" u="none" strike="noStrike" cap="none" dirty="0" err="1">
                          <a:solidFill>
                            <a:schemeClr val="bg1"/>
                          </a:solidFill>
                        </a:rPr>
                        <a:t>Arracher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fr-FR" sz="1400" u="none" strike="noStrike" cap="none" dirty="0"/>
                        <a:t>Q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 err="1"/>
                        <a:t>Concentrer</a:t>
                      </a:r>
                      <a:r>
                        <a:rPr lang="en-GB" sz="1400" u="none" strike="noStrike" cap="none" dirty="0"/>
                        <a:t> la lumière</a:t>
                      </a: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Shift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en-GB" sz="1400" u="none" strike="noStrike" cap="none" dirty="0">
                          <a:solidFill>
                            <a:schemeClr val="bg1"/>
                          </a:solidFill>
                        </a:rPr>
                        <a:t>Dash</a:t>
                      </a:r>
                      <a:endParaRPr sz="14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u="none" strike="noStrike" cap="none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05341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2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3Cs </a:t>
            </a:r>
            <a:r>
              <a:rPr lang="en-GB" dirty="0" err="1">
                <a:solidFill>
                  <a:schemeClr val="bg1"/>
                </a:solidFill>
              </a:rPr>
              <a:t>Caméra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37" name="Google Shape;137;p12"/>
          <p:cNvSpPr txBox="1"/>
          <p:nvPr/>
        </p:nvSpPr>
        <p:spPr>
          <a:xfrm>
            <a:off x="347825" y="1184125"/>
            <a:ext cx="8429400" cy="23390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sz="1400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La caméra est perpendiculaire au personnage. Elle a un offset en Z (profondeur). L</a:t>
            </a:r>
            <a:br>
              <a:rPr lang="fr-FR" sz="1400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fr-FR" i="1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Pour l’instant, ce offset est fixe mais pourrait évoluer afin d’ajouter un levier de difficulté sur la visibilité. 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Lorsque le joueur est près d’une border, la caméra s’assure de rester dans l’eau. (elle ne montre pas davantage d’air ou de sol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Quant aux autres axes, la caméra a un offset selon la direction du personnage</a:t>
            </a:r>
            <a:b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</a:b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(offset vers la droite si le joueur regarde vers la gauche, et inversement)</a:t>
            </a:r>
          </a:p>
          <a:p>
            <a:pPr marL="285750" indent="-285750">
              <a:buSzPts val="1400"/>
              <a:buFont typeface="Wingdings" panose="05000000000000000000" pitchFamily="2" charset="2"/>
              <a:buChar char="Ø"/>
            </a:pPr>
            <a:r>
              <a:rPr lang="fr-FR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Dans la partie passive, la caméra est fixe et montre le coffre du véhicule de Louis. </a:t>
            </a:r>
            <a:r>
              <a:rPr lang="fr-FR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C’est ici qu’ont lieu les upgrades. </a:t>
            </a:r>
            <a:r>
              <a:rPr lang="fr-FR" b="0" i="0" u="none" strike="noStrike" cap="none" dirty="0">
                <a:solidFill>
                  <a:schemeClr val="bg1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Wingdings" panose="05000000000000000000" pitchFamily="2" charset="2"/>
              <a:buChar char="Ø"/>
            </a:pPr>
            <a:endParaRPr sz="1400" b="0" i="0" u="none" strike="noStrike" cap="none" dirty="0">
              <a:solidFill>
                <a:schemeClr val="bg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1026" name="Picture 2" descr="Capture d'écran de Dave The Diver">
            <a:extLst>
              <a:ext uri="{FF2B5EF4-FFF2-40B4-BE49-F238E27FC236}">
                <a16:creationId xmlns:a16="http://schemas.microsoft.com/office/drawing/2014/main" id="{E40804FB-8B38-579F-E0E8-9DC2644BB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8121" y="3024063"/>
            <a:ext cx="3325554" cy="1870624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A4509319-DC18-52AC-B011-15AF6F3994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6371" y="3072062"/>
            <a:ext cx="2671594" cy="17746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587947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dirty="0">
                <a:solidFill>
                  <a:schemeClr val="bg1"/>
                </a:solidFill>
              </a:rPr>
              <a:t>Le chenal ressemble à un couloir profond de 16-20m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9A5CDFC-E713-86A6-77F7-A5640266A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737" y="119006"/>
            <a:ext cx="4874223" cy="3249482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818" y="2101999"/>
            <a:ext cx="4223385" cy="2815590"/>
          </a:xfrm>
          <a:prstGeom prst="rect">
            <a:avLst/>
          </a:prstGeom>
        </p:spPr>
      </p:pic>
      <p:sp>
        <p:nvSpPr>
          <p:cNvPr id="7" name="Google Shape;143;p13">
            <a:extLst>
              <a:ext uri="{FF2B5EF4-FFF2-40B4-BE49-F238E27FC236}">
                <a16:creationId xmlns:a16="http://schemas.microsoft.com/office/drawing/2014/main" id="{07D972DF-5F19-07F9-938D-1F1583585022}"/>
              </a:ext>
            </a:extLst>
          </p:cNvPr>
          <p:cNvSpPr txBox="1">
            <a:spLocks/>
          </p:cNvSpPr>
          <p:nvPr/>
        </p:nvSpPr>
        <p:spPr>
          <a:xfrm>
            <a:off x="5349608" y="3648199"/>
            <a:ext cx="3587947" cy="126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114300" indent="0">
              <a:buNone/>
            </a:pPr>
            <a:r>
              <a:rPr lang="fr-CA" dirty="0">
                <a:solidFill>
                  <a:schemeClr val="bg1"/>
                </a:solidFill>
              </a:rPr>
              <a:t>Imaginons qu’il y ait cette profondeur de 16m sur la photo</a:t>
            </a:r>
          </a:p>
          <a:p>
            <a:pPr marL="114300" indent="0">
              <a:buNone/>
            </a:pPr>
            <a:r>
              <a:rPr lang="fr-CA" dirty="0">
                <a:solidFill>
                  <a:schemeClr val="bg1"/>
                </a:solidFill>
              </a:rPr>
              <a:t>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    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781353"/>
              </p:ext>
            </p:extLst>
          </p:nvPr>
        </p:nvGraphicFramePr>
        <p:xfrm>
          <a:off x="405203" y="1644650"/>
          <a:ext cx="8330004" cy="235204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Pièce de métal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Bois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Verre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(bas)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8" name="Google Shape;142;p13">
            <a:extLst>
              <a:ext uri="{FF2B5EF4-FFF2-40B4-BE49-F238E27FC236}">
                <a16:creationId xmlns:a16="http://schemas.microsoft.com/office/drawing/2014/main" id="{32D6AB4F-B2DC-E6E5-FAE4-AD75A758A21C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1967129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0m à -5m    </a:t>
            </a:r>
          </a:p>
        </p:txBody>
      </p:sp>
    </p:spTree>
    <p:extLst>
      <p:ext uri="{BB962C8B-B14F-4D97-AF65-F5344CB8AC3E}">
        <p14:creationId xmlns:p14="http://schemas.microsoft.com/office/powerpoint/2010/main" val="2332025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77142" y="1296296"/>
            <a:ext cx="159034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Common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Pièce de métal</a:t>
            </a:r>
          </a:p>
          <a:p>
            <a:r>
              <a:rPr lang="fr-FR" dirty="0">
                <a:solidFill>
                  <a:schemeClr val="bg1"/>
                </a:solidFill>
              </a:rPr>
              <a:t>Bois</a:t>
            </a:r>
          </a:p>
          <a:p>
            <a:r>
              <a:rPr lang="fr-FR" dirty="0">
                <a:solidFill>
                  <a:schemeClr val="bg1"/>
                </a:solidFill>
              </a:rPr>
              <a:t>Verre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basse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E08C76E0-C25A-523D-8DF9-D16F2F6BE5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0598" y="1696931"/>
            <a:ext cx="328368" cy="24627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AFE3FF76-4754-328E-646A-86D4FA2A2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50598" y="1978814"/>
            <a:ext cx="328368" cy="25422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EF02AFE2-5877-014D-BC57-2690E6C102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40317" y="2268641"/>
            <a:ext cx="328368" cy="30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8698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1095640"/>
              </p:ext>
            </p:extLst>
          </p:nvPr>
        </p:nvGraphicFramePr>
        <p:xfrm>
          <a:off x="405203" y="1644650"/>
          <a:ext cx="8330004" cy="235204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Cuivre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Tuyauterie laiton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Composantes moteur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-5m à -10m    </a:t>
            </a:r>
          </a:p>
        </p:txBody>
      </p:sp>
    </p:spTree>
    <p:extLst>
      <p:ext uri="{BB962C8B-B14F-4D97-AF65-F5344CB8AC3E}">
        <p14:creationId xmlns:p14="http://schemas.microsoft.com/office/powerpoint/2010/main" val="3778026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98725" y="2522668"/>
            <a:ext cx="1886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</a:rPr>
              <a:t>uncommon</a:t>
            </a:r>
            <a:r>
              <a:rPr lang="fr-FR" b="1" dirty="0">
                <a:solidFill>
                  <a:schemeClr val="bg1"/>
                </a:solidFill>
              </a:rPr>
              <a:t>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Cuivre</a:t>
            </a:r>
          </a:p>
          <a:p>
            <a:r>
              <a:rPr lang="fr-FR" dirty="0">
                <a:solidFill>
                  <a:schemeClr val="bg1"/>
                </a:solidFill>
              </a:rPr>
              <a:t>Tuyauterie laiton</a:t>
            </a:r>
          </a:p>
          <a:p>
            <a:r>
              <a:rPr lang="fr-FR" dirty="0">
                <a:solidFill>
                  <a:schemeClr val="bg1"/>
                </a:solidFill>
              </a:rPr>
              <a:t>Composantes moteur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moyenne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1242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2994639"/>
              </p:ext>
            </p:extLst>
          </p:nvPr>
        </p:nvGraphicFramePr>
        <p:xfrm>
          <a:off x="405203" y="1644650"/>
          <a:ext cx="8330004" cy="320548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Radio maritime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Lanterne de bord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améliorer son équipement/être vendu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(moyen)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rgbClr val="002060"/>
                          </a:solidFill>
                        </a:rPr>
                        <a:t>Caisse étanche</a:t>
                      </a:r>
                    </a:p>
                    <a:p>
                      <a:endParaRPr lang="fr-FR" b="1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La caisse étanche sert à remonter à la surface plus vite grâce à l’air qu’elle contient.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Une fois remontée, elle donne du </a:t>
                      </a:r>
                      <a:r>
                        <a:rPr lang="fr-FR" dirty="0" err="1">
                          <a:solidFill>
                            <a:srgbClr val="002060"/>
                          </a:solidFill>
                        </a:rPr>
                        <a:t>common</a:t>
                      </a: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 </a:t>
                      </a:r>
                      <a:r>
                        <a:rPr lang="fr-FR" dirty="0" err="1">
                          <a:solidFill>
                            <a:srgbClr val="002060"/>
                          </a:solidFill>
                        </a:rPr>
                        <a:t>loot</a:t>
                      </a:r>
                      <a:endParaRPr lang="fr-FR" dirty="0">
                        <a:solidFill>
                          <a:srgbClr val="002060"/>
                        </a:solidFill>
                      </a:endParaRP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Son contenu </a:t>
                      </a: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rgbClr val="002060"/>
                          </a:solidFill>
                        </a:rPr>
                        <a:t>Sa vitesse de remontée</a:t>
                      </a:r>
                    </a:p>
                    <a:p>
                      <a:endParaRPr lang="fr-FR" dirty="0">
                        <a:solidFill>
                          <a:srgbClr val="00206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-10m à -13m    </a:t>
            </a:r>
          </a:p>
        </p:txBody>
      </p:sp>
    </p:spTree>
    <p:extLst>
      <p:ext uri="{BB962C8B-B14F-4D97-AF65-F5344CB8AC3E}">
        <p14:creationId xmlns:p14="http://schemas.microsoft.com/office/powerpoint/2010/main" val="390696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79141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237711" y="3163921"/>
            <a:ext cx="188610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Rare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Radio maritime</a:t>
            </a:r>
          </a:p>
          <a:p>
            <a:r>
              <a:rPr lang="fr-FR" dirty="0">
                <a:solidFill>
                  <a:schemeClr val="bg1"/>
                </a:solidFill>
              </a:rPr>
              <a:t>Lanterne de bord</a:t>
            </a:r>
          </a:p>
          <a:p>
            <a:r>
              <a:rPr lang="fr-FR" dirty="0">
                <a:solidFill>
                  <a:srgbClr val="002060"/>
                </a:solidFill>
              </a:rPr>
              <a:t>Caisse étanche</a:t>
            </a:r>
          </a:p>
          <a:p>
            <a:endParaRPr lang="fr-FR" dirty="0">
              <a:solidFill>
                <a:schemeClr val="bg1"/>
              </a:solidFill>
            </a:endParaRPr>
          </a:p>
          <a:p>
            <a:r>
              <a:rPr lang="fr-FR" u="sng" dirty="0">
                <a:solidFill>
                  <a:schemeClr val="bg1"/>
                </a:solidFill>
              </a:rPr>
              <a:t>Valeur haute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2B45B7-D88A-1F4C-6F9D-4C1E317B3189}"/>
              </a:ext>
            </a:extLst>
          </p:cNvPr>
          <p:cNvCxnSpPr>
            <a:cxnSpLocks/>
          </p:cNvCxnSpPr>
          <p:nvPr/>
        </p:nvCxnSpPr>
        <p:spPr>
          <a:xfrm>
            <a:off x="806824" y="3867373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èche : double flèche verticale 7">
            <a:extLst>
              <a:ext uri="{FF2B5EF4-FFF2-40B4-BE49-F238E27FC236}">
                <a16:creationId xmlns:a16="http://schemas.microsoft.com/office/drawing/2014/main" id="{0E4360F9-EEE3-16FE-DB19-2D2855FE566D}"/>
              </a:ext>
            </a:extLst>
          </p:cNvPr>
          <p:cNvSpPr/>
          <p:nvPr/>
        </p:nvSpPr>
        <p:spPr>
          <a:xfrm>
            <a:off x="1748453" y="3281083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BAA7BA-95C6-11E8-FD1D-633614536ACA}"/>
              </a:ext>
            </a:extLst>
          </p:cNvPr>
          <p:cNvSpPr txBox="1"/>
          <p:nvPr/>
        </p:nvSpPr>
        <p:spPr>
          <a:xfrm>
            <a:off x="544945" y="3180058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570005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0556868C-40FD-2F53-28A0-73DB87E45E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684004"/>
              </p:ext>
            </p:extLst>
          </p:nvPr>
        </p:nvGraphicFramePr>
        <p:xfrm>
          <a:off x="405203" y="1644650"/>
          <a:ext cx="8330004" cy="2778760"/>
        </p:xfrm>
        <a:graphic>
          <a:graphicData uri="http://schemas.openxmlformats.org/drawingml/2006/table">
            <a:tbl>
              <a:tblPr firstRow="1" bandRow="1">
                <a:tableStyleId>{5E7111E6-7E48-4233-AF02-AB37C635197C}</a:tableStyleId>
              </a:tblPr>
              <a:tblGrid>
                <a:gridCol w="2082501">
                  <a:extLst>
                    <a:ext uri="{9D8B030D-6E8A-4147-A177-3AD203B41FA5}">
                      <a16:colId xmlns:a16="http://schemas.microsoft.com/office/drawing/2014/main" val="3029647670"/>
                    </a:ext>
                  </a:extLst>
                </a:gridCol>
                <a:gridCol w="2082501">
                  <a:extLst>
                    <a:ext uri="{9D8B030D-6E8A-4147-A177-3AD203B41FA5}">
                      <a16:colId xmlns:a16="http://schemas.microsoft.com/office/drawing/2014/main" val="3991709551"/>
                    </a:ext>
                  </a:extLst>
                </a:gridCol>
                <a:gridCol w="975362">
                  <a:extLst>
                    <a:ext uri="{9D8B030D-6E8A-4147-A177-3AD203B41FA5}">
                      <a16:colId xmlns:a16="http://schemas.microsoft.com/office/drawing/2014/main" val="1194963352"/>
                    </a:ext>
                  </a:extLst>
                </a:gridCol>
                <a:gridCol w="3189640">
                  <a:extLst>
                    <a:ext uri="{9D8B030D-6E8A-4147-A177-3AD203B41FA5}">
                      <a16:colId xmlns:a16="http://schemas.microsoft.com/office/drawing/2014/main" val="18582165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GPI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Fonction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Levier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64664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Sextant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être vendu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31729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Portefeuille avec du cash dedans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Sert à être vendu</a:t>
                      </a:r>
                    </a:p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ID peuvent être scannés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6182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Clés de voiture</a:t>
                      </a:r>
                    </a:p>
                    <a:p>
                      <a:endParaRPr lang="fr-FR" b="1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L’objet ultra rare. Sert à être vendu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fr-FR" dirty="0">
                        <a:solidFill>
                          <a:schemeClr val="bg1"/>
                        </a:solidFill>
                      </a:endParaRP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prix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(élevé)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>
                          <a:solidFill>
                            <a:schemeClr val="bg1"/>
                          </a:solidFill>
                        </a:rPr>
                        <a:t>Son lieu de collecte et / ou sa fréquence d’apparition</a:t>
                      </a:r>
                    </a:p>
                    <a:p>
                      <a:endParaRPr lang="fr-FR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8012913"/>
                  </a:ext>
                </a:extLst>
              </a:tr>
            </a:tbl>
          </a:graphicData>
        </a:graphic>
      </p:graphicFrame>
      <p:sp>
        <p:nvSpPr>
          <p:cNvPr id="2" name="Google Shape;142;p13">
            <a:extLst>
              <a:ext uri="{FF2B5EF4-FFF2-40B4-BE49-F238E27FC236}">
                <a16:creationId xmlns:a16="http://schemas.microsoft.com/office/drawing/2014/main" id="{4509535A-136C-7D12-C81C-23459F50261F}"/>
              </a:ext>
            </a:extLst>
          </p:cNvPr>
          <p:cNvSpPr txBox="1">
            <a:spLocks/>
          </p:cNvSpPr>
          <p:nvPr/>
        </p:nvSpPr>
        <p:spPr>
          <a:xfrm>
            <a:off x="3347149" y="731575"/>
            <a:ext cx="3258046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 b="0" i="0" u="none" strike="noStrike" cap="none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GB" sz="3200" dirty="0">
                <a:solidFill>
                  <a:schemeClr val="bg1"/>
                </a:solidFill>
              </a:rPr>
              <a:t>De -13m à -16m    </a:t>
            </a:r>
          </a:p>
        </p:txBody>
      </p:sp>
    </p:spTree>
    <p:extLst>
      <p:ext uri="{BB962C8B-B14F-4D97-AF65-F5344CB8AC3E}">
        <p14:creationId xmlns:p14="http://schemas.microsoft.com/office/powerpoint/2010/main" val="18143635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A8EF4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3"/>
          <p:cNvSpPr txBox="1">
            <a:spLocks noGrp="1"/>
          </p:cNvSpPr>
          <p:nvPr>
            <p:ph type="title"/>
          </p:nvPr>
        </p:nvSpPr>
        <p:spPr>
          <a:xfrm>
            <a:off x="311700" y="379141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 dirty="0">
                <a:solidFill>
                  <a:schemeClr val="bg1"/>
                </a:solidFill>
              </a:rPr>
              <a:t>GPIs</a:t>
            </a:r>
            <a:endParaRPr dirty="0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E2F50AA-AC20-99C9-9297-EEADB6B02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244" y="1353975"/>
            <a:ext cx="5105512" cy="3403675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028F049A-E884-34DB-EA7E-57F1DADEF44A}"/>
              </a:ext>
            </a:extLst>
          </p:cNvPr>
          <p:cNvCxnSpPr>
            <a:cxnSpLocks/>
          </p:cNvCxnSpPr>
          <p:nvPr/>
        </p:nvCxnSpPr>
        <p:spPr>
          <a:xfrm>
            <a:off x="806824" y="2522668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lèche : double flèche verticale 9">
            <a:extLst>
              <a:ext uri="{FF2B5EF4-FFF2-40B4-BE49-F238E27FC236}">
                <a16:creationId xmlns:a16="http://schemas.microsoft.com/office/drawing/2014/main" id="{371F5A38-4825-86ED-0756-324C971BD441}"/>
              </a:ext>
            </a:extLst>
          </p:cNvPr>
          <p:cNvSpPr/>
          <p:nvPr/>
        </p:nvSpPr>
        <p:spPr>
          <a:xfrm>
            <a:off x="1752992" y="2614110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0F38432-9DE1-B6AD-298F-38F483EBB394}"/>
              </a:ext>
            </a:extLst>
          </p:cNvPr>
          <p:cNvSpPr txBox="1"/>
          <p:nvPr/>
        </p:nvSpPr>
        <p:spPr>
          <a:xfrm>
            <a:off x="995081" y="1296296"/>
            <a:ext cx="60780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452026E-FBE0-E1AB-FF1C-27872E43E36C}"/>
              </a:ext>
            </a:extLst>
          </p:cNvPr>
          <p:cNvSpPr txBox="1"/>
          <p:nvPr/>
        </p:nvSpPr>
        <p:spPr>
          <a:xfrm>
            <a:off x="7124756" y="3834896"/>
            <a:ext cx="18861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1"/>
                </a:solidFill>
              </a:rPr>
              <a:t>Epic </a:t>
            </a:r>
            <a:r>
              <a:rPr lang="fr-FR" b="1" dirty="0" err="1">
                <a:solidFill>
                  <a:schemeClr val="bg1"/>
                </a:solidFill>
              </a:rPr>
              <a:t>loot</a:t>
            </a:r>
            <a:endParaRPr lang="fr-FR" b="1" dirty="0">
              <a:solidFill>
                <a:schemeClr val="bg1"/>
              </a:solidFill>
            </a:endParaRPr>
          </a:p>
          <a:p>
            <a:endParaRPr lang="fr-FR" b="1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Sextant, portefeuille, clés de voiture</a:t>
            </a:r>
          </a:p>
          <a:p>
            <a:r>
              <a:rPr lang="fr-FR" u="sng" dirty="0">
                <a:solidFill>
                  <a:schemeClr val="bg1"/>
                </a:solidFill>
              </a:rPr>
              <a:t>Valeur très élevée</a:t>
            </a:r>
          </a:p>
        </p:txBody>
      </p:sp>
      <p:cxnSp>
        <p:nvCxnSpPr>
          <p:cNvPr id="2" name="Connecteur droit 1">
            <a:extLst>
              <a:ext uri="{FF2B5EF4-FFF2-40B4-BE49-F238E27FC236}">
                <a16:creationId xmlns:a16="http://schemas.microsoft.com/office/drawing/2014/main" id="{1E6591A0-04DE-C2F3-647A-F6DBFD13FE0D}"/>
              </a:ext>
            </a:extLst>
          </p:cNvPr>
          <p:cNvCxnSpPr>
            <a:cxnSpLocks/>
          </p:cNvCxnSpPr>
          <p:nvPr/>
        </p:nvCxnSpPr>
        <p:spPr>
          <a:xfrm>
            <a:off x="806824" y="3195020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èche : double flèche verticale 2">
            <a:extLst>
              <a:ext uri="{FF2B5EF4-FFF2-40B4-BE49-F238E27FC236}">
                <a16:creationId xmlns:a16="http://schemas.microsoft.com/office/drawing/2014/main" id="{CE462BDC-03AA-9555-54CF-27F8F0AC5988}"/>
              </a:ext>
            </a:extLst>
          </p:cNvPr>
          <p:cNvSpPr/>
          <p:nvPr/>
        </p:nvSpPr>
        <p:spPr>
          <a:xfrm>
            <a:off x="1766439" y="1353975"/>
            <a:ext cx="139850" cy="1077253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1362EBE-FAE0-527B-955C-65E50968E4E6}"/>
              </a:ext>
            </a:extLst>
          </p:cNvPr>
          <p:cNvSpPr txBox="1"/>
          <p:nvPr/>
        </p:nvSpPr>
        <p:spPr>
          <a:xfrm>
            <a:off x="550827" y="2492742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- 5 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6E2B45B7-D88A-1F4C-6F9D-4C1E317B3189}"/>
              </a:ext>
            </a:extLst>
          </p:cNvPr>
          <p:cNvCxnSpPr>
            <a:cxnSpLocks/>
          </p:cNvCxnSpPr>
          <p:nvPr/>
        </p:nvCxnSpPr>
        <p:spPr>
          <a:xfrm>
            <a:off x="806824" y="3867373"/>
            <a:ext cx="6540649" cy="0"/>
          </a:xfrm>
          <a:prstGeom prst="line">
            <a:avLst/>
          </a:prstGeom>
          <a:ln w="28575"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Flèche : double flèche verticale 7">
            <a:extLst>
              <a:ext uri="{FF2B5EF4-FFF2-40B4-BE49-F238E27FC236}">
                <a16:creationId xmlns:a16="http://schemas.microsoft.com/office/drawing/2014/main" id="{0E4360F9-EEE3-16FE-DB19-2D2855FE566D}"/>
              </a:ext>
            </a:extLst>
          </p:cNvPr>
          <p:cNvSpPr/>
          <p:nvPr/>
        </p:nvSpPr>
        <p:spPr>
          <a:xfrm>
            <a:off x="1748453" y="3281083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BAA7BA-95C6-11E8-FD1D-633614536ACA}"/>
              </a:ext>
            </a:extLst>
          </p:cNvPr>
          <p:cNvSpPr txBox="1"/>
          <p:nvPr/>
        </p:nvSpPr>
        <p:spPr>
          <a:xfrm>
            <a:off x="544945" y="3180058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- 10m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  <p:sp>
        <p:nvSpPr>
          <p:cNvPr id="13" name="Flèche : double flèche verticale 12">
            <a:extLst>
              <a:ext uri="{FF2B5EF4-FFF2-40B4-BE49-F238E27FC236}">
                <a16:creationId xmlns:a16="http://schemas.microsoft.com/office/drawing/2014/main" id="{F447FAB0-1BAD-D6A2-812F-3614A9BA9744}"/>
              </a:ext>
            </a:extLst>
          </p:cNvPr>
          <p:cNvSpPr/>
          <p:nvPr/>
        </p:nvSpPr>
        <p:spPr>
          <a:xfrm>
            <a:off x="1741141" y="4017982"/>
            <a:ext cx="139850" cy="521744"/>
          </a:xfrm>
          <a:prstGeom prst="upDownArrow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bg1"/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8C41463-E0E7-32C4-C7B2-47FEC92D80A8}"/>
              </a:ext>
            </a:extLst>
          </p:cNvPr>
          <p:cNvSpPr txBox="1"/>
          <p:nvPr/>
        </p:nvSpPr>
        <p:spPr>
          <a:xfrm>
            <a:off x="527125" y="3924390"/>
            <a:ext cx="107576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b="1" dirty="0">
                <a:solidFill>
                  <a:schemeClr val="bg1"/>
                </a:solidFill>
              </a:rPr>
              <a:t>- 13m</a:t>
            </a:r>
          </a:p>
          <a:p>
            <a:pPr algn="r"/>
            <a:endParaRPr lang="fr-FR" b="1" dirty="0">
              <a:solidFill>
                <a:schemeClr val="bg1"/>
              </a:solidFill>
            </a:endParaRPr>
          </a:p>
          <a:p>
            <a:pPr algn="r"/>
            <a:r>
              <a:rPr lang="fr-FR" b="1" dirty="0">
                <a:solidFill>
                  <a:schemeClr val="bg1"/>
                </a:solidFill>
              </a:rPr>
              <a:t>- 16m</a:t>
            </a:r>
          </a:p>
          <a:p>
            <a:pPr marL="285750" indent="-285750" algn="r">
              <a:buFontTx/>
              <a:buChar char="-"/>
            </a:pPr>
            <a:endParaRPr lang="fr-FR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356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1.</a:t>
            </a:r>
            <a:endParaRPr/>
          </a:p>
        </p:txBody>
      </p:sp>
      <p:sp>
        <p:nvSpPr>
          <p:cNvPr id="149" name="Google Shape;149;p1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Boucles de Jeux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2.</a:t>
            </a:r>
            <a:endParaRPr/>
          </a:p>
        </p:txBody>
      </p:sp>
      <p:sp>
        <p:nvSpPr>
          <p:cNvPr id="155" name="Google Shape;155;p1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3Cs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</a:pPr>
            <a:r>
              <a:rPr lang="en-GB"/>
              <a:t>Annexe 3.</a:t>
            </a:r>
            <a:endParaRPr/>
          </a:p>
        </p:txBody>
      </p:sp>
      <p:sp>
        <p:nvSpPr>
          <p:cNvPr id="161" name="Google Shape;161;p16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GB"/>
              <a:t>Mécanique Principale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1385</Words>
  <Application>Microsoft Office PowerPoint</Application>
  <PresentationFormat>Affichage à l'écran (16:9)</PresentationFormat>
  <Paragraphs>280</Paragraphs>
  <Slides>28</Slides>
  <Notes>27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4" baseType="lpstr">
      <vt:lpstr>Economica</vt:lpstr>
      <vt:lpstr>Arial</vt:lpstr>
      <vt:lpstr>OpineHeavy</vt:lpstr>
      <vt:lpstr>Open Sans</vt:lpstr>
      <vt:lpstr>Wingdings</vt:lpstr>
      <vt:lpstr>Luxe</vt:lpstr>
      <vt:lpstr>Présentation PowerPoint</vt:lpstr>
      <vt:lpstr>Inspirations</vt:lpstr>
      <vt:lpstr>Elevator Pitch</vt:lpstr>
      <vt:lpstr>Concept</vt:lpstr>
      <vt:lpstr>Information générale</vt:lpstr>
      <vt:lpstr>Creative Values</vt:lpstr>
      <vt:lpstr>Core Game Loop</vt:lpstr>
      <vt:lpstr>Main features</vt:lpstr>
      <vt:lpstr>Main features</vt:lpstr>
      <vt:lpstr>Main features</vt:lpstr>
      <vt:lpstr>Main features</vt:lpstr>
      <vt:lpstr>3Cs Character - Louis</vt:lpstr>
      <vt:lpstr>3Cs Character (bis)</vt:lpstr>
      <vt:lpstr>3Cs Contrôles</vt:lpstr>
      <vt:lpstr>3Cs Contrôles</vt:lpstr>
      <vt:lpstr>3Cs Caméra</vt:lpstr>
      <vt:lpstr>GPIs</vt:lpstr>
      <vt:lpstr>GPIs    </vt:lpstr>
      <vt:lpstr>GPIs</vt:lpstr>
      <vt:lpstr>GPIs</vt:lpstr>
      <vt:lpstr>GPIs</vt:lpstr>
      <vt:lpstr>GPIs</vt:lpstr>
      <vt:lpstr>GPIs</vt:lpstr>
      <vt:lpstr>GPIs</vt:lpstr>
      <vt:lpstr>GPIs</vt:lpstr>
      <vt:lpstr>Annexe 1.</vt:lpstr>
      <vt:lpstr>Annexe 2.</vt:lpstr>
      <vt:lpstr>Annexe 3.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Kevin Tramp</cp:lastModifiedBy>
  <cp:revision>95</cp:revision>
  <dcterms:modified xsi:type="dcterms:W3CDTF">2026-10-28T20:17:35Z</dcterms:modified>
</cp:coreProperties>
</file>